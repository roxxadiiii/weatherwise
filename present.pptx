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530610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6390898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597986759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90545298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3964810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4650457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87169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644204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277059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32586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858899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33509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E45E36-4149-47AE-878D-A9C38FCFAFC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02647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82189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148863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3C5875-39D8-8936-1542-F06E19C9BC4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45636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72124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544792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FD20A5-8FFD-F308-908A-0FF2C02948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73096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30305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820097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53536E-2284-61D7-DCC7-433FD48FB3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364876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372782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48396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AAEB44-3862-7FC2-A999-ECB800EF0C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7394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813116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129032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6B6947-7BFA-DADF-7B0D-CADE6956A78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4363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061864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41721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B08AB4-97E8-6E84-0080-A432F3907B8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78012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171087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934086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D27283-F7D0-B34A-0D81-7F8D48B2DA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04423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823541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564022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C68CA7-9768-F23C-D41D-10B09902D7F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10993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18697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408930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1526E0-6EB0-F1C9-09A7-45BEB59FCD2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46921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31085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055688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B0682F-0259-A039-FAD9-4A7779B36A2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2131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12750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93112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7B95DE-9B2E-1831-FC4E-4B1C2BFDD0E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25836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60356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365446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5133C9-5CF7-41CB-0240-9477CDC522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8634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854980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051572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710E5F-1E17-3EA9-94E2-4BB22DEE2B4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783082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6953040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5297918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3042516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4923611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075768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1738166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510181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0004602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96481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143716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6206417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706610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4702684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3997551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034707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109856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4385321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3725624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373601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2993448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2908139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1448663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0771454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8551513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2304770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612103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2689702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2301631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62523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11911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4289555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57712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50738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6555513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884828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892907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5579415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8856602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947447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7179577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1095126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568339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5519607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7695456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8510083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4675233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918934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58959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6396514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2130706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6844649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500412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531363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0272614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1554075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6339326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934456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9868228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6133448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9084400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8935921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0773877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rgbClr val="282A36"/>
            </a:gs>
            <a:gs pos="100000">
              <a:srgbClr val="44475A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616203" name=""/>
          <p:cNvSpPr txBox="1"/>
          <p:nvPr/>
        </p:nvSpPr>
        <p:spPr bwMode="auto">
          <a:xfrm rot="0" flipH="0" flipV="0">
            <a:off x="703552" y="2740526"/>
            <a:ext cx="10947194" cy="1189079"/>
          </a:xfrm>
          <a:prstGeom prst="rect">
            <a:avLst/>
          </a:prstGeom>
          <a:noFill/>
          <a:effectLst>
            <a:outerShdw blurRad="50800" dist="812800" dir="2700000" sx="100000" sy="100000" algn="tl" rotWithShape="0">
              <a:srgbClr val="44475A">
                <a:alpha val="0"/>
              </a:srgbClr>
            </a:outerShdw>
          </a:effectLst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7200" b="1" i="0" u="none">
                <a:solidFill>
                  <a:srgbClr val="F8F8F2"/>
                </a:solidFill>
                <a:latin typeface="GeistMono NF UltraBlack"/>
                <a:ea typeface="GeistMono NF UltraBlack"/>
                <a:cs typeface="GeistMono NF UltraBlack"/>
              </a:rPr>
              <a:t>WeatherWise</a:t>
            </a:r>
            <a:endParaRPr sz="7200">
              <a:solidFill>
                <a:srgbClr val="F8F8F2"/>
              </a:solidFill>
              <a:latin typeface="GeistMono NF UltraBlack"/>
              <a:cs typeface="GeistMono NF UltraBlack"/>
            </a:endParaRPr>
          </a:p>
        </p:txBody>
      </p:sp>
      <p:sp>
        <p:nvSpPr>
          <p:cNvPr id="651542444" name=""/>
          <p:cNvSpPr txBox="1"/>
          <p:nvPr/>
        </p:nvSpPr>
        <p:spPr bwMode="auto">
          <a:xfrm rot="0" flipH="0" flipV="0">
            <a:off x="720262" y="3716066"/>
            <a:ext cx="10980615" cy="427079"/>
          </a:xfrm>
          <a:prstGeom prst="rect">
            <a:avLst/>
          </a:prstGeom>
          <a:noFill/>
          <a:effectLst>
            <a:outerShdw blurRad="50800" dist="812800" dir="2700000" sx="100000" sy="100000" algn="tl" rotWithShape="0">
              <a:srgbClr val="44475A">
                <a:alpha val="0"/>
              </a:srgbClr>
            </a:outerShdw>
          </a:effectLst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0" i="0" u="none">
                <a:solidFill>
                  <a:srgbClr val="F0F6FC"/>
                </a:solidFill>
                <a:latin typeface="Maple Mono Medium"/>
                <a:ea typeface="Maple Mono Medium"/>
                <a:cs typeface="Maple Mono Medium"/>
              </a:rPr>
              <a:t>Real-Time Weather Forecast Dashboard</a:t>
            </a:r>
            <a:endParaRPr sz="2200">
              <a:latin typeface="Maple Mono Medium"/>
              <a:cs typeface="Maple Mono Medium"/>
            </a:endParaRPr>
          </a:p>
        </p:txBody>
      </p:sp>
      <p:sp>
        <p:nvSpPr>
          <p:cNvPr id="1858610511" name=""/>
          <p:cNvSpPr txBox="1"/>
          <p:nvPr/>
        </p:nvSpPr>
        <p:spPr bwMode="auto">
          <a:xfrm rot="0" flipH="0" flipV="0">
            <a:off x="35131" y="6216315"/>
            <a:ext cx="1220228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>
                <a:solidFill>
                  <a:srgbClr val="F1FA8C"/>
                </a:solidFill>
                <a:latin typeface="Mononoki Nerd Font"/>
                <a:ea typeface="Mononoki Nerd Font"/>
                <a:cs typeface="Mononoki Nerd Font"/>
              </a:rPr>
              <a:t>By : </a:t>
            </a:r>
            <a:r>
              <a:rPr sz="2000" b="0" i="0" u="none">
                <a:solidFill>
                  <a:srgbClr val="F1FA8C"/>
                </a:solidFill>
                <a:latin typeface="Mononoki Nerd Font"/>
                <a:ea typeface="Mononoki Nerd Font"/>
                <a:cs typeface="Mononoki Nerd Font"/>
              </a:rPr>
              <a:t>Aditya Kumar &amp; Ashif Rahman</a:t>
            </a:r>
            <a:endParaRPr sz="2000">
              <a:solidFill>
                <a:srgbClr val="F1FA8C"/>
              </a:solidFill>
              <a:latin typeface="Mononoki Nerd Font"/>
              <a:cs typeface="Mononoki Nerd Fon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rgbClr val="282A36"/>
            </a:gs>
            <a:gs pos="100000">
              <a:srgbClr val="44475A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7301829" name=""/>
          <p:cNvSpPr txBox="1"/>
          <p:nvPr/>
        </p:nvSpPr>
        <p:spPr bwMode="auto">
          <a:xfrm rot="0" flipH="0" flipV="0">
            <a:off x="1710" y="350920"/>
            <a:ext cx="12220794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4800">
                <a:solidFill>
                  <a:srgbClr val="F1FA8C"/>
                </a:solidFill>
                <a:latin typeface="GeistMono NF UltraBlack"/>
                <a:ea typeface="GeistMono NF UltraBlack"/>
                <a:cs typeface="GeistMono NF UltraBlack"/>
              </a:rPr>
              <a:t>&gt; </a:t>
            </a:r>
            <a:r>
              <a:rPr sz="4800" b="1" i="0" u="none">
                <a:solidFill>
                  <a:srgbClr val="F1FA8C"/>
                </a:solidFill>
                <a:latin typeface="GeistMono NF UltraBlack"/>
                <a:ea typeface="GeistMono NF UltraBlack"/>
                <a:cs typeface="GeistMono NF UltraBlack"/>
              </a:rPr>
              <a:t>Problem &amp; Solution</a:t>
            </a:r>
            <a:r>
              <a:rPr sz="4800">
                <a:solidFill>
                  <a:srgbClr val="F1FA8C"/>
                </a:solidFill>
                <a:latin typeface="GeistMono NF UltraBlack"/>
                <a:ea typeface="GeistMono NF UltraBlack"/>
                <a:cs typeface="GeistMono NF UltraBlack"/>
              </a:rPr>
              <a:t> &lt;</a:t>
            </a:r>
            <a:endParaRPr sz="4800">
              <a:solidFill>
                <a:srgbClr val="F8F8F2"/>
              </a:solidFill>
              <a:latin typeface="GeistMono NF UltraBlack"/>
              <a:cs typeface="GeistMono NF UltraBlack"/>
            </a:endParaRPr>
          </a:p>
        </p:txBody>
      </p:sp>
      <p:sp>
        <p:nvSpPr>
          <p:cNvPr id="612955049" name=""/>
          <p:cNvSpPr txBox="1"/>
          <p:nvPr/>
        </p:nvSpPr>
        <p:spPr bwMode="auto">
          <a:xfrm rot="0" flipH="0" flipV="0">
            <a:off x="235657" y="1537368"/>
            <a:ext cx="5840973" cy="33836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200000"/>
              </a:lnSpc>
              <a:defRPr/>
            </a:pPr>
            <a:r>
              <a:rPr lang="en-US" sz="3600" b="0" i="0" u="none" strike="noStrike" cap="none" spc="0">
                <a:solidFill>
                  <a:srgbClr val="FFB86C"/>
                </a:solidFill>
                <a:latin typeface="GeistMono NF UltraBlack"/>
                <a:ea typeface="GeistMono NF UltraBlack"/>
                <a:cs typeface="GeistMono NF UltraBlack"/>
              </a:rPr>
              <a:t>Problems: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83879" indent="-283879">
              <a:lnSpc>
                <a:spcPct val="200000"/>
              </a:lnSpc>
              <a:buFont typeface="Arial"/>
              <a:buChar char="•"/>
              <a:defRPr/>
            </a:pPr>
            <a:r>
              <a:rPr lang="en-US" sz="1800" b="1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Fragmented weather information</a:t>
            </a:r>
            <a:endParaRPr sz="1800" b="1" i="0" u="none" strike="noStrike" cap="none" spc="0">
              <a:solidFill>
                <a:srgbClr val="F8F8F2"/>
              </a:solidFill>
              <a:latin typeface="Maple Mono Medium"/>
              <a:cs typeface="Maple Mono Medium"/>
            </a:endParaRPr>
          </a:p>
          <a:p>
            <a:pPr marL="283879" indent="-283879">
              <a:lnSpc>
                <a:spcPct val="200000"/>
              </a:lnSpc>
              <a:buFont typeface="Arial"/>
              <a:buChar char="•"/>
              <a:defRPr/>
            </a:pPr>
            <a:r>
              <a:rPr lang="en-US" sz="1800" b="1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Cluttered interfaces with ads</a:t>
            </a:r>
            <a:endParaRPr sz="1800" b="1" i="0" u="none" strike="noStrike" cap="none" spc="0">
              <a:solidFill>
                <a:srgbClr val="F8F8F2"/>
              </a:solidFill>
              <a:latin typeface="Maple Mono Medium"/>
              <a:cs typeface="Maple Mono Medium"/>
            </a:endParaRPr>
          </a:p>
          <a:p>
            <a:pPr marL="283879" indent="-283879">
              <a:lnSpc>
                <a:spcPct val="200000"/>
              </a:lnSpc>
              <a:buFont typeface="Arial"/>
              <a:buChar char="•"/>
              <a:defRPr/>
            </a:pPr>
            <a:r>
              <a:rPr lang="en-US" sz="1800" b="1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Poor data visualization</a:t>
            </a:r>
            <a:endParaRPr sz="1800" b="1" i="0" u="none" strike="noStrike" cap="none" spc="0">
              <a:solidFill>
                <a:srgbClr val="F8F8F2"/>
              </a:solidFill>
              <a:latin typeface="Maple Mono Medium"/>
              <a:cs typeface="Maple Mono Medium"/>
            </a:endParaRPr>
          </a:p>
          <a:p>
            <a:pPr marL="283879" indent="-283879">
              <a:lnSpc>
                <a:spcPct val="200000"/>
              </a:lnSpc>
              <a:buFont typeface="Arial"/>
              <a:buChar char="•"/>
              <a:defRPr/>
            </a:pPr>
            <a:r>
              <a:rPr lang="en-US" sz="1800" b="1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Outdated designs</a:t>
            </a:r>
            <a:endParaRPr/>
          </a:p>
        </p:txBody>
      </p:sp>
      <p:sp>
        <p:nvSpPr>
          <p:cNvPr id="2104710172" name=""/>
          <p:cNvSpPr txBox="1"/>
          <p:nvPr/>
        </p:nvSpPr>
        <p:spPr bwMode="auto">
          <a:xfrm rot="0" flipH="0" flipV="0">
            <a:off x="6227229" y="1639636"/>
            <a:ext cx="5845652" cy="33836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200000"/>
              </a:lnSpc>
              <a:defRPr/>
            </a:pPr>
            <a:r>
              <a:rPr lang="en-US" sz="3600" b="0" i="0" u="none" strike="noStrike" cap="none" spc="0">
                <a:solidFill>
                  <a:srgbClr val="FFB86C"/>
                </a:solidFill>
                <a:latin typeface="GeistMono NF UltraBlack"/>
                <a:ea typeface="GeistMono NF UltraBlack"/>
                <a:cs typeface="GeistMono NF UltraBlack"/>
              </a:rPr>
              <a:t>Solution: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83879" indent="-283879">
              <a:lnSpc>
                <a:spcPct val="200000"/>
              </a:lnSpc>
              <a:buFont typeface="Arial"/>
              <a:buChar char="•"/>
              <a:defRPr/>
            </a:pPr>
            <a:r>
              <a:rPr lang="en-US" sz="1800" b="1" i="0" u="none" strike="noStrike" cap="none" spc="0">
                <a:solidFill>
                  <a:srgbClr val="F8F8F2"/>
                </a:solidFill>
                <a:latin typeface="MonoLisa"/>
                <a:ea typeface="MonoLisa"/>
                <a:cs typeface="MonoLisa"/>
              </a:rPr>
              <a:t>Clean, fast, beautiful dashboard</a:t>
            </a:r>
            <a:endParaRPr sz="1800" b="1" i="0" u="none" strike="noStrike" cap="none" spc="0">
              <a:solidFill>
                <a:srgbClr val="F8F8F2"/>
              </a:solidFill>
              <a:latin typeface="MonoLisa"/>
              <a:cs typeface="MonoLisa"/>
            </a:endParaRPr>
          </a:p>
          <a:p>
            <a:pPr marL="283879" indent="-283879">
              <a:lnSpc>
                <a:spcPct val="200000"/>
              </a:lnSpc>
              <a:buFont typeface="Arial"/>
              <a:buChar char="•"/>
              <a:defRPr/>
            </a:pPr>
            <a:r>
              <a:rPr lang="en-US" sz="1800" b="1" i="0" u="none" strike="noStrike" cap="none" spc="0">
                <a:solidFill>
                  <a:srgbClr val="F8F8F2"/>
                </a:solidFill>
                <a:latin typeface="MonoLisa"/>
                <a:ea typeface="MonoLisa"/>
                <a:cs typeface="MonoLisa"/>
              </a:rPr>
              <a:t>Real-time data + interactive charts</a:t>
            </a:r>
            <a:endParaRPr sz="1800" b="1" i="0" u="none" strike="noStrike" cap="none" spc="0">
              <a:solidFill>
                <a:srgbClr val="F8F8F2"/>
              </a:solidFill>
              <a:latin typeface="MonoLisa"/>
              <a:cs typeface="MonoLisa"/>
            </a:endParaRPr>
          </a:p>
          <a:p>
            <a:pPr marL="283879" indent="-283879">
              <a:lnSpc>
                <a:spcPct val="200000"/>
              </a:lnSpc>
              <a:buFont typeface="Arial"/>
              <a:buChar char="•"/>
              <a:defRPr/>
            </a:pPr>
            <a:r>
              <a:rPr lang="en-US" sz="1800" b="1" i="0" u="none" strike="noStrike" cap="none" spc="0">
                <a:solidFill>
                  <a:srgbClr val="F8F8F2"/>
                </a:solidFill>
                <a:latin typeface="MonoLisa"/>
                <a:ea typeface="MonoLisa"/>
                <a:cs typeface="MonoLisa"/>
              </a:rPr>
              <a:t>Modern glassmorphism UI</a:t>
            </a:r>
            <a:endParaRPr sz="1800" b="1" i="0" u="none" strike="noStrike" cap="none" spc="0">
              <a:solidFill>
                <a:srgbClr val="F8F8F2"/>
              </a:solidFill>
              <a:latin typeface="MonoLisa"/>
              <a:cs typeface="MonoLisa"/>
            </a:endParaRPr>
          </a:p>
          <a:p>
            <a:pPr marL="283878" indent="-283878">
              <a:lnSpc>
                <a:spcPct val="200000"/>
              </a:lnSpc>
              <a:buFont typeface="Arial"/>
              <a:buChar char="•"/>
              <a:defRPr/>
            </a:pPr>
            <a:r>
              <a:rPr lang="en-US" sz="1800" b="1" i="0" u="none" strike="noStrike" cap="none" spc="0">
                <a:solidFill>
                  <a:srgbClr val="F8F8F2"/>
                </a:solidFill>
                <a:latin typeface="MonoLisa"/>
                <a:ea typeface="MonoLisa"/>
                <a:cs typeface="MonoLisa"/>
              </a:rPr>
              <a:t>Ad-free experience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rgbClr val="282A36"/>
            </a:gs>
            <a:gs pos="100000">
              <a:srgbClr val="44475A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3927869" name=""/>
          <p:cNvSpPr txBox="1"/>
          <p:nvPr/>
        </p:nvSpPr>
        <p:spPr bwMode="auto">
          <a:xfrm rot="0" flipH="0" flipV="0">
            <a:off x="1710" y="350920"/>
            <a:ext cx="12221154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4800">
                <a:solidFill>
                  <a:srgbClr val="F1FA8C"/>
                </a:solidFill>
                <a:latin typeface="GeistMono NF UltraBlack"/>
                <a:ea typeface="GeistMono NF UltraBlack"/>
                <a:cs typeface="GeistMono NF UltraBlack"/>
              </a:rPr>
              <a:t>&gt; </a:t>
            </a:r>
            <a:r>
              <a:rPr lang="en-US" sz="4800" b="1" i="0" u="none" strike="noStrike" cap="none" spc="0">
                <a:solidFill>
                  <a:srgbClr val="F1FA8C"/>
                </a:solidFill>
                <a:latin typeface="GeistMono NF UltraBlack"/>
                <a:ea typeface="GeistMono NF UltraBlack"/>
                <a:cs typeface="GeistMono NF UltraBlack"/>
              </a:rPr>
              <a:t>Key Features</a:t>
            </a:r>
            <a:r>
              <a:rPr sz="4800">
                <a:solidFill>
                  <a:srgbClr val="F1FA8C"/>
                </a:solidFill>
                <a:latin typeface="GeistMono NF UltraBlack"/>
                <a:ea typeface="GeistMono NF UltraBlack"/>
                <a:cs typeface="GeistMono NF UltraBlack"/>
              </a:rPr>
              <a:t> &lt;</a:t>
            </a:r>
            <a:endParaRPr sz="4800">
              <a:solidFill>
                <a:srgbClr val="F8F8F2"/>
              </a:solidFill>
              <a:latin typeface="GeistMono NF UltraBlack"/>
              <a:cs typeface="GeistMono NF UltraBlack"/>
            </a:endParaRPr>
          </a:p>
        </p:txBody>
      </p:sp>
      <p:sp>
        <p:nvSpPr>
          <p:cNvPr id="1994663310" name=""/>
          <p:cNvSpPr txBox="1"/>
          <p:nvPr/>
        </p:nvSpPr>
        <p:spPr bwMode="auto">
          <a:xfrm rot="0" flipH="0" flipV="0">
            <a:off x="235657" y="1537368"/>
            <a:ext cx="9948162" cy="421900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3600" b="0" i="0" u="none" strike="noStrike" cap="none" spc="0">
                <a:solidFill>
                  <a:srgbClr val="FFB86C"/>
                </a:solidFill>
                <a:latin typeface="GeistMono NF UltraBlack"/>
                <a:ea typeface="GeistMono NF UltraBlack"/>
                <a:cs typeface="GeistMono NF UltraBlack"/>
              </a:rPr>
              <a:t>Core Features:</a:t>
            </a:r>
            <a:endParaRPr lang="en-US" sz="3600" b="0" i="0" u="none" strike="noStrike" cap="none" spc="0">
              <a:solidFill>
                <a:srgbClr val="FFB86C"/>
              </a:solidFill>
              <a:latin typeface="GeistMono NF UltraBlack"/>
              <a:ea typeface="GeistMono NF UltraBlack"/>
              <a:cs typeface="GeistMono NF UltraBlack"/>
            </a:endParaRPr>
          </a:p>
          <a:p>
            <a:pPr>
              <a:defRPr/>
            </a:pPr>
            <a:endParaRPr lang="en-US" sz="3600" b="0" i="0" u="none" strike="noStrike" cap="none" spc="0">
              <a:solidFill>
                <a:srgbClr val="FFB86C"/>
              </a:solidFill>
              <a:latin typeface="GeistMono NF UltraBlack"/>
              <a:cs typeface="GeistMono NF UltraBlack"/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 b="1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 Dual Location - GPS + city search</a:t>
            </a:r>
            <a:endParaRPr sz="2200" b="1" i="0" u="none" strike="noStrike" cap="none" spc="0">
              <a:solidFill>
                <a:srgbClr val="F8F8F2"/>
              </a:solidFill>
              <a:latin typeface="Maple Mono Medium"/>
              <a:cs typeface="Maple Mono Medium"/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 b="1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 Interactive Charts - Temperature &amp; humidity</a:t>
            </a:r>
            <a:endParaRPr sz="2200" b="1" i="0" u="none" strike="noStrike" cap="none" spc="0">
              <a:solidFill>
                <a:srgbClr val="F8F8F2"/>
              </a:solidFill>
              <a:latin typeface="Maple Mono Medium"/>
              <a:cs typeface="Maple Mono Medium"/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 b="1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 Modern UI - Glassmorphism + Dracula theme</a:t>
            </a:r>
            <a:endParaRPr sz="2200" b="1" i="0" u="none" strike="noStrike" cap="none" spc="0">
              <a:solidFill>
                <a:srgbClr val="F8F8F2"/>
              </a:solidFill>
              <a:latin typeface="Maple Mono Medium"/>
              <a:cs typeface="Maple Mono Medium"/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 b="1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 Real-Time - Auto-refresh every 15 min</a:t>
            </a:r>
            <a:endParaRPr sz="2200" b="1" i="0" u="none" strike="noStrike" cap="none" spc="0">
              <a:solidFill>
                <a:srgbClr val="F8F8F2"/>
              </a:solidFill>
              <a:latin typeface="Maple Mono Medium"/>
              <a:cs typeface="Maple Mono Medium"/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 b="1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️ Unit Toggle - Celsius ↔ Fahrenheit</a:t>
            </a:r>
            <a:endParaRPr sz="2200" b="1" i="0" u="none" strike="noStrike" cap="none" spc="0">
              <a:solidFill>
                <a:srgbClr val="F8F8F2"/>
              </a:solidFill>
              <a:latin typeface="Maple Mono Medium"/>
              <a:cs typeface="Maple Mono Medium"/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 b="1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 Smart Cache - 10-min cache, faster loads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rgbClr val="282A36"/>
            </a:gs>
            <a:gs pos="100000">
              <a:srgbClr val="44475A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4594871" name=""/>
          <p:cNvSpPr txBox="1"/>
          <p:nvPr/>
        </p:nvSpPr>
        <p:spPr bwMode="auto">
          <a:xfrm rot="0" flipH="0" flipV="0">
            <a:off x="1710" y="350920"/>
            <a:ext cx="12221514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4800">
                <a:solidFill>
                  <a:srgbClr val="F1FA8C"/>
                </a:solidFill>
                <a:latin typeface="GeistMono NF UltraBlack"/>
                <a:ea typeface="GeistMono NF UltraBlack"/>
                <a:cs typeface="GeistMono NF UltraBlack"/>
              </a:rPr>
              <a:t>&gt; </a:t>
            </a:r>
            <a:r>
              <a:rPr lang="en-US" sz="4800" b="1" i="0" u="none" strike="noStrike" cap="none" spc="0">
                <a:solidFill>
                  <a:srgbClr val="F1FA8C"/>
                </a:solidFill>
                <a:latin typeface="GeistMono NF UltraBlack"/>
                <a:ea typeface="GeistMono NF UltraBlack"/>
                <a:cs typeface="GeistMono NF UltraBlack"/>
              </a:rPr>
              <a:t>Technology Stack</a:t>
            </a:r>
            <a:r>
              <a:rPr sz="4800">
                <a:solidFill>
                  <a:srgbClr val="F1FA8C"/>
                </a:solidFill>
                <a:latin typeface="GeistMono NF UltraBlack"/>
                <a:ea typeface="GeistMono NF UltraBlack"/>
                <a:cs typeface="GeistMono NF UltraBlack"/>
              </a:rPr>
              <a:t> &lt;</a:t>
            </a:r>
            <a:endParaRPr sz="4800">
              <a:solidFill>
                <a:srgbClr val="F8F8F2"/>
              </a:solidFill>
              <a:latin typeface="GeistMono NF UltraBlack"/>
              <a:cs typeface="GeistMono NF UltraBlack"/>
            </a:endParaRPr>
          </a:p>
        </p:txBody>
      </p:sp>
      <p:sp>
        <p:nvSpPr>
          <p:cNvPr id="1641017032" name=""/>
          <p:cNvSpPr txBox="1"/>
          <p:nvPr/>
        </p:nvSpPr>
        <p:spPr bwMode="auto">
          <a:xfrm rot="0" flipH="0" flipV="0">
            <a:off x="235657" y="1537368"/>
            <a:ext cx="9951042" cy="2027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3600" b="0" i="0" u="none" strike="noStrike" cap="none" spc="0">
                <a:solidFill>
                  <a:srgbClr val="FFB86C"/>
                </a:solidFill>
                <a:latin typeface="GeistMono NF UltraBlack"/>
                <a:ea typeface="GeistMono NF UltraBlack"/>
                <a:cs typeface="GeistMono NF UltraBlack"/>
              </a:rPr>
              <a:t>Frontend:</a:t>
            </a:r>
            <a:endParaRPr lang="en-US" sz="3600" b="0" i="0" u="none" strike="noStrike" cap="none" spc="0">
              <a:solidFill>
                <a:srgbClr val="FFB86C"/>
              </a:solidFill>
              <a:latin typeface="GeistMono NF UltraBlack"/>
              <a:ea typeface="GeistMono NF UltraBlack"/>
              <a:cs typeface="GeistMono NF UltraBlack"/>
            </a:endParaRPr>
          </a:p>
          <a:p>
            <a:pPr>
              <a:defRPr/>
            </a:pPr>
            <a:endParaRPr lang="en-US" sz="3600" b="0" i="0" u="none" strike="noStrike" cap="none" spc="0">
              <a:solidFill>
                <a:srgbClr val="FFB86C"/>
              </a:solidFill>
              <a:latin typeface="GeistMono NF UltraBlack"/>
              <a:ea typeface="GeistMono NF UltraBlack"/>
              <a:cs typeface="GeistMono NF UltraBlack"/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lang="en-US" sz="2200" b="1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HTML5, CSS3, JavaScript (ES6)</a:t>
            </a:r>
            <a:endParaRPr lang="en-US" sz="2200" b="1" i="0" u="none" strike="noStrike" cap="none" spc="0">
              <a:solidFill>
                <a:srgbClr val="F8F8F2"/>
              </a:solidFill>
              <a:latin typeface="Maple Mono Medium"/>
              <a:cs typeface="Maple Mono Medium"/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 b="1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Chart.js, Material Icons</a:t>
            </a:r>
            <a:endParaRPr/>
          </a:p>
        </p:txBody>
      </p:sp>
      <p:sp>
        <p:nvSpPr>
          <p:cNvPr id="1303793243" name=""/>
          <p:cNvSpPr txBox="1"/>
          <p:nvPr/>
        </p:nvSpPr>
        <p:spPr bwMode="auto">
          <a:xfrm rot="0" flipH="0" flipV="0">
            <a:off x="388056" y="4179636"/>
            <a:ext cx="9952482" cy="2027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3600" b="0" i="0" u="none" strike="noStrike" cap="none" spc="0">
                <a:solidFill>
                  <a:srgbClr val="FFB86C"/>
                </a:solidFill>
                <a:latin typeface="GeistMono NF UltraBlack"/>
                <a:ea typeface="GeistMono NF UltraBlack"/>
                <a:cs typeface="GeistMono NF UltraBlack"/>
              </a:rPr>
              <a:t>Backend:</a:t>
            </a:r>
            <a:endParaRPr lang="en-US" sz="3600" b="0" i="0" u="none" strike="noStrike" cap="none" spc="0">
              <a:solidFill>
                <a:srgbClr val="FFB86C"/>
              </a:solidFill>
              <a:latin typeface="GeistMono NF UltraBlack"/>
              <a:ea typeface="GeistMono NF UltraBlack"/>
              <a:cs typeface="GeistMono NF UltraBlack"/>
            </a:endParaRPr>
          </a:p>
          <a:p>
            <a:pPr>
              <a:defRPr/>
            </a:pPr>
            <a:endParaRPr lang="en-US" sz="3600" b="0" i="0" u="none" strike="noStrike" cap="none" spc="0">
              <a:solidFill>
                <a:srgbClr val="FFB86C"/>
              </a:solidFill>
              <a:latin typeface="GeistMono NF UltraBlack"/>
              <a:ea typeface="GeistMono NF UltraBlack"/>
              <a:cs typeface="GeistMono NF UltraBlack"/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lang="en-US" sz="2200" b="1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Python 3.13, Flask 3.0</a:t>
            </a:r>
            <a:endParaRPr lang="en-US" sz="2200" b="1" i="0" u="none" strike="noStrike" cap="none" spc="0">
              <a:solidFill>
                <a:srgbClr val="F8F8F2"/>
              </a:solidFill>
              <a:latin typeface="Maple Mono Medium"/>
              <a:cs typeface="Maple Mono Medium"/>
            </a:endParaRPr>
          </a:p>
          <a:p>
            <a:pPr marL="283878" indent="-283878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 b="1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Flask-CORS, Requests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rgbClr val="282A36"/>
            </a:gs>
            <a:gs pos="100000">
              <a:srgbClr val="44475A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0629119" name=""/>
          <p:cNvSpPr txBox="1"/>
          <p:nvPr/>
        </p:nvSpPr>
        <p:spPr bwMode="auto">
          <a:xfrm rot="0" flipH="0" flipV="0">
            <a:off x="1710" y="350920"/>
            <a:ext cx="12221514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4800">
                <a:solidFill>
                  <a:srgbClr val="F1FA8C"/>
                </a:solidFill>
                <a:latin typeface="GeistMono NF UltraBlack"/>
                <a:ea typeface="GeistMono NF UltraBlack"/>
                <a:cs typeface="GeistMono NF UltraBlack"/>
              </a:rPr>
              <a:t>&gt; </a:t>
            </a:r>
            <a:r>
              <a:rPr lang="en-US" sz="4800" b="1" i="0" u="none" strike="noStrike" cap="none" spc="0">
                <a:solidFill>
                  <a:srgbClr val="F1FA8C"/>
                </a:solidFill>
                <a:latin typeface="GeistMono NF UltraBlack"/>
                <a:ea typeface="GeistMono NF UltraBlack"/>
                <a:cs typeface="GeistMono NF UltraBlack"/>
              </a:rPr>
              <a:t>Technology Stack</a:t>
            </a:r>
            <a:r>
              <a:rPr sz="4800">
                <a:solidFill>
                  <a:srgbClr val="F1FA8C"/>
                </a:solidFill>
                <a:latin typeface="GeistMono NF UltraBlack"/>
                <a:ea typeface="GeistMono NF UltraBlack"/>
                <a:cs typeface="GeistMono NF UltraBlack"/>
              </a:rPr>
              <a:t> &lt;</a:t>
            </a:r>
            <a:endParaRPr sz="4800">
              <a:solidFill>
                <a:srgbClr val="F8F8F2"/>
              </a:solidFill>
              <a:latin typeface="GeistMono NF UltraBlack"/>
              <a:cs typeface="GeistMono NF UltraBlack"/>
            </a:endParaRPr>
          </a:p>
        </p:txBody>
      </p:sp>
      <p:sp>
        <p:nvSpPr>
          <p:cNvPr id="300951945" name=""/>
          <p:cNvSpPr txBox="1"/>
          <p:nvPr/>
        </p:nvSpPr>
        <p:spPr bwMode="auto">
          <a:xfrm rot="0" flipH="0" flipV="0">
            <a:off x="235657" y="1537368"/>
            <a:ext cx="9953562" cy="16920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3600" b="0" i="0" u="none" strike="noStrike" cap="none" spc="0">
                <a:solidFill>
                  <a:srgbClr val="FFB86C"/>
                </a:solidFill>
                <a:latin typeface="GeistMono NF UltraBlack"/>
                <a:ea typeface="GeistMono NF UltraBlack"/>
                <a:cs typeface="GeistMono NF UltraBlack"/>
              </a:rPr>
              <a:t>External:</a:t>
            </a:r>
            <a:endParaRPr lang="en-US" sz="3600" b="0" i="0" u="none" strike="noStrike" cap="none" spc="0">
              <a:solidFill>
                <a:srgbClr val="FFB86C"/>
              </a:solidFill>
              <a:latin typeface="GeistMono NF UltraBlack"/>
              <a:cs typeface="GeistMono NF UltraBlack"/>
            </a:endParaRPr>
          </a:p>
          <a:p>
            <a:pPr>
              <a:defRPr/>
            </a:pPr>
            <a:endParaRPr lang="en-US" sz="3600" b="0" i="0" u="none" strike="noStrike" cap="none" spc="0">
              <a:solidFill>
                <a:srgbClr val="FFB86C"/>
              </a:solidFill>
              <a:latin typeface="GeistMono NF UltraBlack"/>
              <a:ea typeface="GeistMono NF UltraBlack"/>
              <a:cs typeface="GeistMono NF UltraBlack"/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 b="1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OpenWeatherMap API v2.5</a:t>
            </a:r>
            <a:endParaRPr/>
          </a:p>
        </p:txBody>
      </p:sp>
      <p:sp>
        <p:nvSpPr>
          <p:cNvPr id="1265280502" name=""/>
          <p:cNvSpPr txBox="1"/>
          <p:nvPr/>
        </p:nvSpPr>
        <p:spPr bwMode="auto">
          <a:xfrm rot="0" flipH="0" flipV="0">
            <a:off x="388056" y="4179636"/>
            <a:ext cx="9953922" cy="10519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3600" b="0" i="0" u="none" strike="noStrike" cap="none" spc="0">
                <a:solidFill>
                  <a:srgbClr val="FFB86C"/>
                </a:solidFill>
                <a:latin typeface="GeistMono NF UltraBlack"/>
                <a:ea typeface="GeistMono NF UltraBlack"/>
                <a:cs typeface="GeistMono NF UltraBlack"/>
              </a:rPr>
              <a:t>Architecture:</a:t>
            </a:r>
            <a:endParaRPr lang="en-US" sz="3600" b="0" i="0" u="none" strike="noStrike" cap="none" spc="0">
              <a:solidFill>
                <a:srgbClr val="FFB86C"/>
              </a:solidFill>
              <a:latin typeface="GeistMono NF UltraBlack"/>
              <a:cs typeface="GeistMono NF UltraBlack"/>
            </a:endParaRPr>
          </a:p>
          <a:p>
            <a:pPr>
              <a:lnSpc>
                <a:spcPct val="150000"/>
              </a:lnSpc>
              <a:defRPr/>
            </a:pPr>
            <a:endParaRPr/>
          </a:p>
        </p:txBody>
      </p:sp>
      <p:pic>
        <p:nvPicPr>
          <p:cNvPr id="154567491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939445" y="4815388"/>
            <a:ext cx="8249775" cy="18845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rgbClr val="282A36"/>
            </a:gs>
            <a:gs pos="100000">
              <a:srgbClr val="44475A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468332" name=""/>
          <p:cNvSpPr txBox="1"/>
          <p:nvPr/>
        </p:nvSpPr>
        <p:spPr bwMode="auto">
          <a:xfrm rot="0" flipH="0" flipV="0">
            <a:off x="1710" y="350920"/>
            <a:ext cx="12221874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4800">
                <a:solidFill>
                  <a:srgbClr val="F1FA8C"/>
                </a:solidFill>
                <a:latin typeface="GeistMono NF UltraBlack"/>
                <a:ea typeface="GeistMono NF UltraBlack"/>
                <a:cs typeface="GeistMono NF UltraBlack"/>
              </a:rPr>
              <a:t>&gt; </a:t>
            </a:r>
            <a:r>
              <a:rPr lang="en-US" sz="4800" b="0" i="0" u="none" strike="noStrike" cap="none" spc="0">
                <a:solidFill>
                  <a:srgbClr val="F1FA8C"/>
                </a:solidFill>
                <a:latin typeface="GeistMono NF UltraBlack"/>
                <a:ea typeface="GeistMono NF UltraBlack"/>
                <a:cs typeface="GeistMono NF UltraBlack"/>
              </a:rPr>
              <a:t>Data Flow</a:t>
            </a:r>
            <a:r>
              <a:rPr sz="4800">
                <a:solidFill>
                  <a:srgbClr val="F1FA8C"/>
                </a:solidFill>
                <a:latin typeface="GeistMono NF UltraBlack"/>
                <a:ea typeface="GeistMono NF UltraBlack"/>
                <a:cs typeface="GeistMono NF UltraBlack"/>
              </a:rPr>
              <a:t> &lt;</a:t>
            </a:r>
            <a:endParaRPr sz="4800">
              <a:solidFill>
                <a:srgbClr val="F8F8F2"/>
              </a:solidFill>
              <a:latin typeface="GeistMono NF UltraBlack"/>
              <a:cs typeface="GeistMono NF UltraBlack"/>
            </a:endParaRPr>
          </a:p>
        </p:txBody>
      </p:sp>
      <p:sp>
        <p:nvSpPr>
          <p:cNvPr id="12556818" name=""/>
          <p:cNvSpPr txBox="1"/>
          <p:nvPr/>
        </p:nvSpPr>
        <p:spPr bwMode="auto">
          <a:xfrm rot="0" flipH="0" flipV="0">
            <a:off x="235657" y="1537368"/>
            <a:ext cx="5878789" cy="427365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3600" b="0" i="0" u="none" strike="noStrike" cap="none" spc="0">
                <a:solidFill>
                  <a:srgbClr val="FFB86C"/>
                </a:solidFill>
                <a:latin typeface="GeistMono NF UltraBlack"/>
                <a:ea typeface="GeistMono NF UltraBlack"/>
                <a:cs typeface="GeistMono NF UltraBlack"/>
              </a:rPr>
              <a:t>Process:</a:t>
            </a:r>
            <a:endParaRPr lang="en-US" sz="3600" b="0" i="0" u="none" strike="noStrike" cap="none" spc="0">
              <a:solidFill>
                <a:srgbClr val="FFB86C"/>
              </a:solidFill>
              <a:latin typeface="GeistMono NF UltraBlack"/>
              <a:ea typeface="GeistMono NF UltraBlack"/>
              <a:cs typeface="GeistMono NF UltraBlack"/>
            </a:endParaRPr>
          </a:p>
          <a:p>
            <a:pPr>
              <a:defRPr/>
            </a:pPr>
            <a:endParaRPr lang="en-US" sz="3600" b="0" i="0" u="none" strike="noStrike" cap="none" spc="0">
              <a:solidFill>
                <a:srgbClr val="FFB86C"/>
              </a:solidFill>
              <a:latin typeface="GeistMono NF UltraBlack"/>
              <a:ea typeface="GeistMono NF UltraBlack"/>
              <a:cs typeface="GeistMono NF UltraBlack"/>
            </a:endParaRPr>
          </a:p>
          <a:p>
            <a:pPr marL="327936" indent="-327936">
              <a:lnSpc>
                <a:spcPct val="114999"/>
              </a:lnSpc>
              <a:buFont typeface="Arial"/>
              <a:buAutoNum type="arabicPeriod"/>
              <a:defRPr/>
            </a:pPr>
            <a:r>
              <a:rPr lang="en-US" sz="2200" b="1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User searches city</a:t>
            </a:r>
            <a:endParaRPr sz="2200" b="1" i="0" u="none" strike="noStrike" cap="none" spc="0">
              <a:solidFill>
                <a:srgbClr val="F8F8F2"/>
              </a:solidFill>
              <a:latin typeface="Maple Mono Medium"/>
              <a:cs typeface="Maple Mono Medium"/>
            </a:endParaRPr>
          </a:p>
          <a:p>
            <a:pPr marL="327936" indent="-327936">
              <a:lnSpc>
                <a:spcPct val="114999"/>
              </a:lnSpc>
              <a:buFont typeface="Arial"/>
              <a:buAutoNum type="arabicPeriod"/>
              <a:defRPr/>
            </a:pPr>
            <a:r>
              <a:rPr lang="en-US" sz="2200" b="1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Flask checks cache (10 min)</a:t>
            </a:r>
            <a:endParaRPr sz="2200" b="1" i="0" u="none" strike="noStrike" cap="none" spc="0">
              <a:solidFill>
                <a:srgbClr val="F8F8F2"/>
              </a:solidFill>
              <a:latin typeface="Maple Mono Medium"/>
              <a:cs typeface="Maple Mono Medium"/>
            </a:endParaRPr>
          </a:p>
          <a:p>
            <a:pPr marL="327936" indent="-327936">
              <a:lnSpc>
                <a:spcPct val="114999"/>
              </a:lnSpc>
              <a:buFont typeface="Arial"/>
              <a:buAutoNum type="arabicPeriod"/>
              <a:defRPr/>
            </a:pPr>
            <a:r>
              <a:rPr lang="en-US" sz="2200" b="1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If fresh → return cached data</a:t>
            </a:r>
            <a:endParaRPr sz="2200" b="1" i="0" u="none" strike="noStrike" cap="none" spc="0">
              <a:solidFill>
                <a:srgbClr val="F8F8F2"/>
              </a:solidFill>
              <a:latin typeface="Maple Mono Medium"/>
              <a:cs typeface="Maple Mono Medium"/>
            </a:endParaRPr>
          </a:p>
          <a:p>
            <a:pPr marL="327936" indent="-327936">
              <a:lnSpc>
                <a:spcPct val="114999"/>
              </a:lnSpc>
              <a:buFont typeface="Arial"/>
              <a:buAutoNum type="arabicPeriod"/>
              <a:defRPr/>
            </a:pPr>
            <a:r>
              <a:rPr lang="en-US" sz="2200" b="1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If stale → call OpenWeatherMap API</a:t>
            </a:r>
            <a:endParaRPr sz="2200" b="1" i="0" u="none" strike="noStrike" cap="none" spc="0">
              <a:solidFill>
                <a:srgbClr val="F8F8F2"/>
              </a:solidFill>
              <a:latin typeface="Maple Mono Medium"/>
              <a:cs typeface="Maple Mono Medium"/>
            </a:endParaRPr>
          </a:p>
          <a:p>
            <a:pPr marL="327936" indent="-327936">
              <a:lnSpc>
                <a:spcPct val="114999"/>
              </a:lnSpc>
              <a:buFont typeface="Arial"/>
              <a:buAutoNum type="arabicPeriod"/>
              <a:defRPr/>
            </a:pPr>
            <a:r>
              <a:rPr lang="en-US" sz="2200" b="1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Store in cache</a:t>
            </a:r>
            <a:endParaRPr sz="2200" b="1" i="0" u="none" strike="noStrike" cap="none" spc="0">
              <a:solidFill>
                <a:srgbClr val="F8F8F2"/>
              </a:solidFill>
              <a:latin typeface="Maple Mono Medium"/>
              <a:cs typeface="Maple Mono Medium"/>
            </a:endParaRPr>
          </a:p>
          <a:p>
            <a:pPr marL="327936" indent="-327936">
              <a:lnSpc>
                <a:spcPct val="114999"/>
              </a:lnSpc>
              <a:buFont typeface="Arial"/>
              <a:buAutoNum type="arabicPeriod"/>
              <a:defRPr/>
            </a:pPr>
            <a:r>
              <a:rPr lang="en-US" sz="2200" b="1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Return to browser</a:t>
            </a:r>
            <a:endParaRPr sz="2200" b="1" i="0" u="none" strike="noStrike" cap="none" spc="0">
              <a:solidFill>
                <a:srgbClr val="F8F8F2"/>
              </a:solidFill>
              <a:latin typeface="Maple Mono Medium"/>
              <a:cs typeface="Maple Mono Medium"/>
            </a:endParaRPr>
          </a:p>
          <a:p>
            <a:pPr marL="327936" indent="-327936">
              <a:lnSpc>
                <a:spcPct val="114999"/>
              </a:lnSpc>
              <a:buFont typeface="Arial"/>
              <a:buAutoNum type="arabicPeriod"/>
              <a:defRPr/>
            </a:pPr>
            <a:r>
              <a:rPr lang="en-US" sz="2200" b="1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Display with charts</a:t>
            </a:r>
            <a:endParaRPr/>
          </a:p>
        </p:txBody>
      </p:sp>
      <p:sp>
        <p:nvSpPr>
          <p:cNvPr id="607707475" name=""/>
          <p:cNvSpPr txBox="1"/>
          <p:nvPr/>
        </p:nvSpPr>
        <p:spPr bwMode="auto">
          <a:xfrm rot="0" flipH="0" flipV="0">
            <a:off x="6484674" y="1537368"/>
            <a:ext cx="5741790" cy="234579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3600" b="0" i="0" u="none" strike="noStrike" cap="none" spc="0">
                <a:solidFill>
                  <a:srgbClr val="FFB86C"/>
                </a:solidFill>
                <a:latin typeface="GeistMono NF UltraBlack"/>
                <a:ea typeface="GeistMono NF UltraBlack"/>
                <a:cs typeface="GeistMono NF UltraBlack"/>
              </a:rPr>
              <a:t>Benefits:</a:t>
            </a:r>
            <a:endParaRPr lang="en-US" sz="3600" b="0" i="0" u="none" strike="noStrike" cap="none" spc="0">
              <a:solidFill>
                <a:srgbClr val="FFB86C"/>
              </a:solidFill>
              <a:latin typeface="GeistMono NF UltraBlack"/>
              <a:ea typeface="GeistMono NF UltraBlack"/>
              <a:cs typeface="GeistMono NF UltraBlack"/>
            </a:endParaRPr>
          </a:p>
          <a:p>
            <a:pPr>
              <a:defRPr/>
            </a:pPr>
            <a:endParaRPr lang="en-US" sz="3600" b="0" i="0" u="none" strike="noStrike" cap="none" spc="0">
              <a:solidFill>
                <a:srgbClr val="FFB86C"/>
              </a:solidFill>
              <a:latin typeface="GeistMono NF UltraBlack"/>
              <a:ea typeface="GeistMono NF UltraBlack"/>
              <a:cs typeface="GeistMono NF UltraBlack"/>
            </a:endParaRPr>
          </a:p>
          <a:p>
            <a:pPr marL="283879" indent="-283879">
              <a:lnSpc>
                <a:spcPct val="114999"/>
              </a:lnSpc>
              <a:buFont typeface="Arial"/>
              <a:buChar char="•"/>
              <a:defRPr/>
            </a:pPr>
            <a:r>
              <a:rPr lang="en-US" sz="2200" b="1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Fast response times</a:t>
            </a:r>
            <a:endParaRPr sz="2200" b="1" i="0" u="none" strike="noStrike" cap="none" spc="0">
              <a:solidFill>
                <a:srgbClr val="F8F8F2"/>
              </a:solidFill>
              <a:latin typeface="Maple Mono Medium"/>
              <a:cs typeface="Maple Mono Medium"/>
            </a:endParaRPr>
          </a:p>
          <a:p>
            <a:pPr marL="283879" indent="-283879">
              <a:lnSpc>
                <a:spcPct val="114999"/>
              </a:lnSpc>
              <a:buFont typeface="Arial"/>
              <a:buChar char="•"/>
              <a:defRPr/>
            </a:pPr>
            <a:r>
              <a:rPr lang="en-US" sz="2200" b="1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Reduced API usage</a:t>
            </a:r>
            <a:endParaRPr sz="2200" b="1" i="0" u="none" strike="noStrike" cap="none" spc="0">
              <a:solidFill>
                <a:srgbClr val="F8F8F2"/>
              </a:solidFill>
              <a:latin typeface="Maple Mono Medium"/>
              <a:cs typeface="Maple Mono Medium"/>
            </a:endParaRPr>
          </a:p>
          <a:p>
            <a:pPr marL="283878" indent="-283878">
              <a:lnSpc>
                <a:spcPct val="114999"/>
              </a:lnSpc>
              <a:buFont typeface="Arial"/>
              <a:buChar char="•"/>
              <a:defRPr/>
            </a:pPr>
            <a:r>
              <a:rPr lang="en-US" sz="2200" b="1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Better user experience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rgbClr val="282A36"/>
            </a:gs>
            <a:gs pos="100000">
              <a:srgbClr val="44475A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954776" name=""/>
          <p:cNvSpPr txBox="1"/>
          <p:nvPr/>
        </p:nvSpPr>
        <p:spPr bwMode="auto">
          <a:xfrm rot="0" flipH="0" flipV="0">
            <a:off x="1710" y="350920"/>
            <a:ext cx="12221514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4800">
                <a:solidFill>
                  <a:srgbClr val="F1FA8C"/>
                </a:solidFill>
                <a:latin typeface="GeistMono NF UltraBlack"/>
                <a:ea typeface="GeistMono NF UltraBlack"/>
                <a:cs typeface="GeistMono NF UltraBlack"/>
              </a:rPr>
              <a:t>&gt; </a:t>
            </a:r>
            <a:r>
              <a:rPr lang="en-US" sz="4800" b="1" i="0" u="none" strike="noStrike" cap="none" spc="0">
                <a:solidFill>
                  <a:srgbClr val="F1FA8C"/>
                </a:solidFill>
                <a:latin typeface="GeistMono NF UltraBlack"/>
                <a:ea typeface="GeistMono NF UltraBlack"/>
                <a:cs typeface="GeistMono NF UltraBlack"/>
              </a:rPr>
              <a:t>UI &amp; Design</a:t>
            </a:r>
            <a:r>
              <a:rPr sz="4800">
                <a:solidFill>
                  <a:srgbClr val="F1FA8C"/>
                </a:solidFill>
                <a:latin typeface="GeistMono NF UltraBlack"/>
                <a:ea typeface="GeistMono NF UltraBlack"/>
                <a:cs typeface="GeistMono NF UltraBlack"/>
              </a:rPr>
              <a:t> &lt;</a:t>
            </a:r>
            <a:endParaRPr sz="4800">
              <a:solidFill>
                <a:srgbClr val="F8F8F2"/>
              </a:solidFill>
              <a:latin typeface="GeistMono NF UltraBlack"/>
              <a:cs typeface="GeistMono NF UltraBlack"/>
            </a:endParaRPr>
          </a:p>
        </p:txBody>
      </p:sp>
      <p:sp>
        <p:nvSpPr>
          <p:cNvPr id="15101872" name=""/>
          <p:cNvSpPr txBox="1"/>
          <p:nvPr/>
        </p:nvSpPr>
        <p:spPr bwMode="auto">
          <a:xfrm rot="0" flipH="0" flipV="0">
            <a:off x="235657" y="1537368"/>
            <a:ext cx="9951762" cy="26978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3600" b="0" i="0" u="none" strike="noStrike" cap="none" spc="0">
                <a:solidFill>
                  <a:srgbClr val="FFB86C"/>
                </a:solidFill>
                <a:latin typeface="GeistMono NF UltraBlack"/>
                <a:ea typeface="GeistMono NF UltraBlack"/>
                <a:cs typeface="GeistMono NF UltraBlack"/>
              </a:rPr>
              <a:t>Design Principles:</a:t>
            </a:r>
            <a:endParaRPr lang="en-US" sz="3600" b="0" i="0" u="none" strike="noStrike" cap="none" spc="0">
              <a:solidFill>
                <a:srgbClr val="FFB86C"/>
              </a:solidFill>
              <a:latin typeface="GeistMono NF UltraBlack"/>
              <a:ea typeface="GeistMono NF UltraBlack"/>
              <a:cs typeface="GeistMono NF UltraBlack"/>
            </a:endParaRPr>
          </a:p>
          <a:p>
            <a:pPr>
              <a:defRPr/>
            </a:pPr>
            <a:endParaRPr lang="en-US" sz="3600" b="0" i="0" u="none" strike="noStrike" cap="none" spc="0">
              <a:solidFill>
                <a:srgbClr val="FFB86C"/>
              </a:solidFill>
              <a:latin typeface="GeistMono NF UltraBlack"/>
              <a:cs typeface="GeistMono NF UltraBlack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2200" b="0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 Glassmorphism - Frosted glass effect</a:t>
            </a:r>
            <a:endParaRPr sz="2200" b="0" i="0" u="none" strike="noStrike" cap="none" spc="0">
              <a:solidFill>
                <a:srgbClr val="F8F8F2"/>
              </a:solidFill>
              <a:latin typeface="Maple Mono Medium"/>
              <a:cs typeface="Maple Mono Medium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2200" b="0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 Dark Theme - Dracula color palette</a:t>
            </a:r>
            <a:endParaRPr sz="2200" b="0" i="0" u="none" strike="noStrike" cap="none" spc="0">
              <a:solidFill>
                <a:srgbClr val="F8F8F2"/>
              </a:solidFill>
              <a:latin typeface="Maple Mono Medium"/>
              <a:cs typeface="Maple Mono Medium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2200" b="0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 Responsive - Desktop, tablet, mobile</a:t>
            </a:r>
            <a:endParaRPr sz="2200" b="0" i="0" u="none" strike="noStrike" cap="none" spc="0">
              <a:solidFill>
                <a:srgbClr val="F8F8F2"/>
              </a:solidFill>
              <a:latin typeface="Maple Mono Medium"/>
              <a:cs typeface="Maple Mono Medium"/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 b="0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 Animations - Smooth transitions</a:t>
            </a:r>
            <a:endParaRPr/>
          </a:p>
        </p:txBody>
      </p:sp>
      <p:sp>
        <p:nvSpPr>
          <p:cNvPr id="1714116384" name=""/>
          <p:cNvSpPr txBox="1"/>
          <p:nvPr/>
        </p:nvSpPr>
        <p:spPr bwMode="auto">
          <a:xfrm rot="0" flipH="0" flipV="0">
            <a:off x="388056" y="4387607"/>
            <a:ext cx="9956442" cy="2027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3600" b="0" i="0" u="none" strike="noStrike" cap="none" spc="0">
                <a:solidFill>
                  <a:srgbClr val="FFB86C"/>
                </a:solidFill>
                <a:latin typeface="GeistMono NF UltraBlack"/>
                <a:ea typeface="GeistMono NF UltraBlack"/>
                <a:cs typeface="GeistMono NF UltraBlack"/>
              </a:rPr>
              <a:t>Color Palette:</a:t>
            </a:r>
            <a:endParaRPr lang="en-US" sz="3600" b="0" i="0" u="none" strike="noStrike" cap="none" spc="0">
              <a:solidFill>
                <a:srgbClr val="FFB86C"/>
              </a:solidFill>
              <a:latin typeface="GeistMono NF UltraBlack"/>
              <a:ea typeface="GeistMono NF UltraBlack"/>
              <a:cs typeface="GeistMono NF UltraBlack"/>
            </a:endParaRPr>
          </a:p>
          <a:p>
            <a:pPr>
              <a:defRPr/>
            </a:pPr>
            <a:endParaRPr lang="en-US" sz="3600" b="0" i="0" u="none" strike="noStrike" cap="none" spc="0">
              <a:solidFill>
                <a:srgbClr val="FFB86C"/>
              </a:solidFill>
              <a:latin typeface="GeistMono NF UltraBlack"/>
              <a:cs typeface="GeistMono NF UltraBlack"/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sz="2200" b="0" i="0" u="none">
                <a:solidFill>
                  <a:srgbClr val="F0F6FC"/>
                </a:solidFill>
                <a:latin typeface="Maple Mono Medium"/>
                <a:ea typeface="Maple Mono Medium"/>
                <a:cs typeface="Maple Mono Medium"/>
              </a:rPr>
              <a:t>Purple</a:t>
            </a:r>
            <a:r>
              <a:rPr sz="2200" b="0" i="0" u="none">
                <a:solidFill>
                  <a:srgbClr val="F0F6FC"/>
                </a:solidFill>
                <a:latin typeface="Maple Mono Medium"/>
                <a:ea typeface="Maple Mono Medium"/>
                <a:cs typeface="Maple Mono Medium"/>
              </a:rPr>
              <a:t> </a:t>
            </a:r>
            <a:r>
              <a:rPr sz="2200" b="0" i="0" u="none">
                <a:solidFill>
                  <a:srgbClr val="BD93F9"/>
                </a:solidFill>
                <a:latin typeface="Maple Mono Medium"/>
                <a:ea typeface="Maple Mono Medium"/>
                <a:cs typeface="Maple Mono Medium"/>
              </a:rPr>
              <a:t>#bd93f9</a:t>
            </a:r>
            <a:r>
              <a:rPr sz="2200" b="0" i="0" u="none">
                <a:solidFill>
                  <a:srgbClr val="F0F6FC"/>
                </a:solidFill>
                <a:latin typeface="Maple Mono Medium"/>
                <a:ea typeface="Maple Mono Medium"/>
                <a:cs typeface="Maple Mono Medium"/>
              </a:rPr>
              <a:t>, Pink</a:t>
            </a:r>
            <a:r>
              <a:rPr sz="2200" b="0" i="0" u="none">
                <a:solidFill>
                  <a:srgbClr val="F0F6FC"/>
                </a:solidFill>
                <a:latin typeface="Maple Mono Medium"/>
                <a:ea typeface="Maple Mono Medium"/>
                <a:cs typeface="Maple Mono Medium"/>
              </a:rPr>
              <a:t> </a:t>
            </a:r>
            <a:r>
              <a:rPr sz="2200" b="0" i="0" u="none">
                <a:solidFill>
                  <a:srgbClr val="FF79C6"/>
                </a:solidFill>
                <a:latin typeface="Maple Mono Medium"/>
                <a:ea typeface="Maple Mono Medium"/>
                <a:cs typeface="Maple Mono Medium"/>
              </a:rPr>
              <a:t>#ff79c6</a:t>
            </a:r>
            <a:r>
              <a:rPr sz="2200" b="0" i="0" u="none">
                <a:solidFill>
                  <a:srgbClr val="F0F6FC"/>
                </a:solidFill>
                <a:latin typeface="Maple Mono Medium"/>
                <a:ea typeface="Maple Mono Medium"/>
                <a:cs typeface="Maple Mono Medium"/>
              </a:rPr>
              <a:t>, Cyan</a:t>
            </a:r>
            <a:r>
              <a:rPr sz="2200" b="0" i="0" u="none">
                <a:solidFill>
                  <a:srgbClr val="F0F6FC"/>
                </a:solidFill>
                <a:latin typeface="Maple Mono Medium"/>
                <a:ea typeface="Maple Mono Medium"/>
                <a:cs typeface="Maple Mono Medium"/>
              </a:rPr>
              <a:t> </a:t>
            </a:r>
            <a:r>
              <a:rPr sz="2200" b="0" i="0" u="none">
                <a:solidFill>
                  <a:srgbClr val="8BE9FD"/>
                </a:solidFill>
                <a:latin typeface="Maple Mono Medium"/>
                <a:ea typeface="Maple Mono Medium"/>
                <a:cs typeface="Maple Mono Medium"/>
              </a:rPr>
              <a:t>#8be9fd</a:t>
            </a:r>
            <a:endParaRPr sz="2200">
              <a:latin typeface="Maple Mono Medium"/>
              <a:cs typeface="Maple Mono Medium"/>
            </a:endParaRPr>
          </a:p>
          <a:p>
            <a:pPr marL="283878" indent="-283878">
              <a:lnSpc>
                <a:spcPct val="150000"/>
              </a:lnSpc>
              <a:buFont typeface="Arial"/>
              <a:buChar char="•"/>
              <a:defRPr/>
            </a:pPr>
            <a:r>
              <a:rPr sz="2200" b="0" i="0" u="none">
                <a:solidFill>
                  <a:srgbClr val="F0F6FC"/>
                </a:solidFill>
                <a:latin typeface="Maple Mono Medium"/>
                <a:ea typeface="Maple Mono Medium"/>
                <a:cs typeface="Maple Mono Medium"/>
              </a:rPr>
              <a:t>Orange</a:t>
            </a:r>
            <a:r>
              <a:rPr sz="2200" b="0" i="0" u="none">
                <a:solidFill>
                  <a:srgbClr val="F0F6FC"/>
                </a:solidFill>
                <a:latin typeface="Maple Mono Medium"/>
                <a:ea typeface="Maple Mono Medium"/>
                <a:cs typeface="Maple Mono Medium"/>
              </a:rPr>
              <a:t> </a:t>
            </a:r>
            <a:r>
              <a:rPr sz="2200" b="0" i="0" u="none">
                <a:solidFill>
                  <a:srgbClr val="FFB86C"/>
                </a:solidFill>
                <a:latin typeface="Maple Mono Medium"/>
                <a:ea typeface="Maple Mono Medium"/>
                <a:cs typeface="Maple Mono Medium"/>
              </a:rPr>
              <a:t>#ffb86c</a:t>
            </a:r>
            <a:r>
              <a:rPr sz="2200" b="0" i="0" u="none">
                <a:solidFill>
                  <a:srgbClr val="F0F6FC"/>
                </a:solidFill>
                <a:latin typeface="Maple Mono Medium"/>
                <a:ea typeface="Maple Mono Medium"/>
                <a:cs typeface="Maple Mono Medium"/>
              </a:rPr>
              <a:t>, Yellow</a:t>
            </a:r>
            <a:r>
              <a:rPr sz="2200" b="0" i="0" u="none">
                <a:solidFill>
                  <a:srgbClr val="F0F6FC"/>
                </a:solidFill>
                <a:latin typeface="Maple Mono Medium"/>
                <a:ea typeface="Maple Mono Medium"/>
                <a:cs typeface="Maple Mono Medium"/>
              </a:rPr>
              <a:t> </a:t>
            </a:r>
            <a:r>
              <a:rPr sz="2200" b="0" i="0" u="none">
                <a:solidFill>
                  <a:srgbClr val="F1FA8C"/>
                </a:solidFill>
                <a:latin typeface="Maple Mono Medium"/>
                <a:ea typeface="Maple Mono Medium"/>
                <a:cs typeface="Maple Mono Medium"/>
              </a:rPr>
              <a:t>#f1fa8c</a:t>
            </a:r>
            <a:r>
              <a:rPr sz="2200" b="0" i="0" u="none">
                <a:solidFill>
                  <a:srgbClr val="F0F6FC"/>
                </a:solidFill>
                <a:latin typeface="Maple Mono Medium"/>
                <a:ea typeface="Maple Mono Medium"/>
                <a:cs typeface="Maple Mono Medium"/>
              </a:rPr>
              <a:t>, Dark</a:t>
            </a:r>
            <a:r>
              <a:rPr sz="2200" b="0" i="0" u="none">
                <a:solidFill>
                  <a:srgbClr val="F0F6FC"/>
                </a:solidFill>
                <a:latin typeface="Maple Mono Medium"/>
                <a:ea typeface="Maple Mono Medium"/>
                <a:cs typeface="Maple Mono Medium"/>
              </a:rPr>
              <a:t> </a:t>
            </a:r>
            <a:r>
              <a:rPr sz="2200" b="0" i="0" u="none">
                <a:solidFill>
                  <a:srgbClr val="282A36"/>
                </a:solidFill>
                <a:latin typeface="Maple Mono Medium"/>
                <a:ea typeface="Maple Mono Medium"/>
                <a:cs typeface="Maple Mono Medium"/>
              </a:rPr>
              <a:t>#282a36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rgbClr val="282A36"/>
            </a:gs>
            <a:gs pos="100000">
              <a:srgbClr val="44475A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986544" name=""/>
          <p:cNvSpPr txBox="1"/>
          <p:nvPr/>
        </p:nvSpPr>
        <p:spPr bwMode="auto">
          <a:xfrm rot="0" flipH="0" flipV="0">
            <a:off x="1710" y="350920"/>
            <a:ext cx="12221514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4800">
                <a:solidFill>
                  <a:srgbClr val="F1FA8C"/>
                </a:solidFill>
                <a:latin typeface="GeistMono NF UltraBlack"/>
                <a:ea typeface="GeistMono NF UltraBlack"/>
                <a:cs typeface="GeistMono NF UltraBlack"/>
              </a:rPr>
              <a:t>&gt; </a:t>
            </a:r>
            <a:r>
              <a:rPr lang="en-US" sz="4800" b="1" i="0" u="none" strike="noStrike" cap="none" spc="0">
                <a:solidFill>
                  <a:srgbClr val="F1FA8C"/>
                </a:solidFill>
                <a:latin typeface="GeistMono NF UltraBlack"/>
                <a:ea typeface="GeistMono NF UltraBlack"/>
                <a:cs typeface="GeistMono NF UltraBlack"/>
              </a:rPr>
              <a:t>UI &amp; Design</a:t>
            </a:r>
            <a:r>
              <a:rPr sz="4800">
                <a:solidFill>
                  <a:srgbClr val="F1FA8C"/>
                </a:solidFill>
                <a:latin typeface="GeistMono NF UltraBlack"/>
                <a:ea typeface="GeistMono NF UltraBlack"/>
                <a:cs typeface="GeistMono NF UltraBlack"/>
              </a:rPr>
              <a:t> &lt;</a:t>
            </a:r>
            <a:endParaRPr sz="4800">
              <a:solidFill>
                <a:srgbClr val="F8F8F2"/>
              </a:solidFill>
              <a:latin typeface="GeistMono NF UltraBlack"/>
              <a:cs typeface="GeistMono NF UltraBlack"/>
            </a:endParaRPr>
          </a:p>
        </p:txBody>
      </p:sp>
      <p:sp>
        <p:nvSpPr>
          <p:cNvPr id="34627020" name=""/>
          <p:cNvSpPr txBox="1"/>
          <p:nvPr/>
        </p:nvSpPr>
        <p:spPr bwMode="auto">
          <a:xfrm rot="0" flipH="0" flipV="0">
            <a:off x="235657" y="1537368"/>
            <a:ext cx="995320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3600" b="0" i="0" u="none" strike="noStrike" cap="none" spc="0">
                <a:solidFill>
                  <a:srgbClr val="FFB86C"/>
                </a:solidFill>
                <a:latin typeface="GeistMono NF UltraBlack"/>
                <a:ea typeface="GeistMono NF UltraBlack"/>
                <a:cs typeface="GeistMono NF UltraBlack"/>
              </a:rPr>
              <a:t>Screenshots:</a:t>
            </a:r>
            <a:endParaRPr lang="en-US" sz="3600" b="0" i="0" u="none" strike="noStrike" cap="none" spc="0">
              <a:solidFill>
                <a:srgbClr val="FFB86C"/>
              </a:solidFill>
              <a:latin typeface="GeistMono NF UltraBlack"/>
              <a:ea typeface="GeistMono NF UltraBlack"/>
              <a:cs typeface="GeistMono NF UltraBlack"/>
            </a:endParaRPr>
          </a:p>
        </p:txBody>
      </p:sp>
      <p:pic>
        <p:nvPicPr>
          <p:cNvPr id="66020451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200140" y="1040556"/>
            <a:ext cx="4798951" cy="5683758"/>
          </a:xfrm>
          <a:prstGeom prst="rect">
            <a:avLst/>
          </a:prstGeom>
        </p:spPr>
      </p:pic>
      <p:pic>
        <p:nvPicPr>
          <p:cNvPr id="23250776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83552" y="3313866"/>
            <a:ext cx="6965405" cy="33202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rgbClr val="282A36"/>
            </a:gs>
            <a:gs pos="100000">
              <a:srgbClr val="44475A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0478076" name=""/>
          <p:cNvSpPr txBox="1"/>
          <p:nvPr/>
        </p:nvSpPr>
        <p:spPr bwMode="auto">
          <a:xfrm rot="0" flipH="0" flipV="0">
            <a:off x="1710" y="350920"/>
            <a:ext cx="12221514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4800">
                <a:solidFill>
                  <a:srgbClr val="F1FA8C"/>
                </a:solidFill>
                <a:latin typeface="GeistMono NF UltraBlack"/>
                <a:ea typeface="GeistMono NF UltraBlack"/>
                <a:cs typeface="GeistMono NF UltraBlack"/>
              </a:rPr>
              <a:t>&gt; </a:t>
            </a:r>
            <a:r>
              <a:rPr lang="en-US" sz="4800" b="1" i="0" u="none" strike="noStrike" cap="none" spc="0">
                <a:solidFill>
                  <a:srgbClr val="F1FA8C"/>
                </a:solidFill>
                <a:latin typeface="GeistMono NF UltraBlack"/>
                <a:ea typeface="GeistMono NF UltraBlack"/>
                <a:cs typeface="GeistMono NF UltraBlack"/>
              </a:rPr>
              <a:t>UI &amp; Design</a:t>
            </a:r>
            <a:r>
              <a:rPr sz="4800">
                <a:solidFill>
                  <a:srgbClr val="F1FA8C"/>
                </a:solidFill>
                <a:latin typeface="GeistMono NF UltraBlack"/>
                <a:ea typeface="GeistMono NF UltraBlack"/>
                <a:cs typeface="GeistMono NF UltraBlack"/>
              </a:rPr>
              <a:t> &lt;</a:t>
            </a:r>
            <a:endParaRPr sz="4800">
              <a:solidFill>
                <a:srgbClr val="F8F8F2"/>
              </a:solidFill>
              <a:latin typeface="GeistMono NF UltraBlack"/>
              <a:cs typeface="GeistMono NF UltraBlack"/>
            </a:endParaRPr>
          </a:p>
        </p:txBody>
      </p:sp>
      <p:sp>
        <p:nvSpPr>
          <p:cNvPr id="1954605517" name=""/>
          <p:cNvSpPr txBox="1"/>
          <p:nvPr/>
        </p:nvSpPr>
        <p:spPr bwMode="auto">
          <a:xfrm rot="0" flipH="0" flipV="0">
            <a:off x="235657" y="1537368"/>
            <a:ext cx="995320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3600" b="0" i="0" u="none" strike="noStrike" cap="none" spc="0">
                <a:solidFill>
                  <a:srgbClr val="FFB86C"/>
                </a:solidFill>
                <a:latin typeface="GeistMono NF UltraBlack"/>
                <a:ea typeface="GeistMono NF UltraBlack"/>
                <a:cs typeface="GeistMono NF UltraBlack"/>
              </a:rPr>
              <a:t>Screenshots:</a:t>
            </a:r>
            <a:endParaRPr lang="en-US" sz="3600" b="0" i="0" u="none" strike="noStrike" cap="none" spc="0">
              <a:solidFill>
                <a:srgbClr val="FFB86C"/>
              </a:solidFill>
              <a:latin typeface="GeistMono NF UltraBlack"/>
              <a:ea typeface="GeistMono NF UltraBlack"/>
              <a:cs typeface="GeistMono NF UltraBlack"/>
            </a:endParaRPr>
          </a:p>
        </p:txBody>
      </p:sp>
      <p:pic>
        <p:nvPicPr>
          <p:cNvPr id="186264852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35657" y="2445251"/>
            <a:ext cx="5353049" cy="3638549"/>
          </a:xfrm>
          <a:prstGeom prst="rect">
            <a:avLst/>
          </a:prstGeom>
        </p:spPr>
      </p:pic>
      <p:pic>
        <p:nvPicPr>
          <p:cNvPr id="110061874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245809" y="2654801"/>
            <a:ext cx="5248274" cy="3429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rgbClr val="282A36"/>
            </a:gs>
            <a:gs pos="100000">
              <a:srgbClr val="44475A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4698335" name=""/>
          <p:cNvSpPr txBox="1"/>
          <p:nvPr/>
        </p:nvSpPr>
        <p:spPr bwMode="auto">
          <a:xfrm rot="0" flipH="0" flipV="0">
            <a:off x="1710" y="350920"/>
            <a:ext cx="12221514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4800">
                <a:solidFill>
                  <a:srgbClr val="F1FA8C"/>
                </a:solidFill>
                <a:latin typeface="GeistMono NF UltraBlack"/>
                <a:ea typeface="GeistMono NF UltraBlack"/>
                <a:cs typeface="GeistMono NF UltraBlack"/>
              </a:rPr>
              <a:t>&gt; </a:t>
            </a:r>
            <a:r>
              <a:rPr lang="en-US" sz="4800" b="1" i="0" u="none" strike="noStrike" cap="none" spc="0">
                <a:solidFill>
                  <a:srgbClr val="F1FA8C"/>
                </a:solidFill>
                <a:latin typeface="GeistMono NF UltraBlack"/>
                <a:ea typeface="GeistMono NF UltraBlack"/>
                <a:cs typeface="GeistMono NF UltraBlack"/>
              </a:rPr>
              <a:t>UI &amp; Design</a:t>
            </a:r>
            <a:r>
              <a:rPr sz="4800">
                <a:solidFill>
                  <a:srgbClr val="F1FA8C"/>
                </a:solidFill>
                <a:latin typeface="GeistMono NF UltraBlack"/>
                <a:ea typeface="GeistMono NF UltraBlack"/>
                <a:cs typeface="GeistMono NF UltraBlack"/>
              </a:rPr>
              <a:t> &lt;</a:t>
            </a:r>
            <a:endParaRPr sz="4800">
              <a:solidFill>
                <a:srgbClr val="F8F8F2"/>
              </a:solidFill>
              <a:latin typeface="GeistMono NF UltraBlack"/>
              <a:cs typeface="GeistMono NF UltraBlack"/>
            </a:endParaRPr>
          </a:p>
        </p:txBody>
      </p:sp>
      <p:sp>
        <p:nvSpPr>
          <p:cNvPr id="1441939178" name=""/>
          <p:cNvSpPr txBox="1"/>
          <p:nvPr/>
        </p:nvSpPr>
        <p:spPr bwMode="auto">
          <a:xfrm rot="0" flipH="0" flipV="0">
            <a:off x="235657" y="1537368"/>
            <a:ext cx="995320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3600" b="0" i="0" u="none" strike="noStrike" cap="none" spc="0">
                <a:solidFill>
                  <a:srgbClr val="FFB86C"/>
                </a:solidFill>
                <a:latin typeface="GeistMono NF UltraBlack"/>
                <a:ea typeface="GeistMono NF UltraBlack"/>
                <a:cs typeface="GeistMono NF UltraBlack"/>
              </a:rPr>
              <a:t>Screenshots:</a:t>
            </a:r>
            <a:endParaRPr lang="en-US" sz="3600" b="0" i="0" u="none" strike="noStrike" cap="none" spc="0">
              <a:solidFill>
                <a:srgbClr val="FFB86C"/>
              </a:solidFill>
              <a:latin typeface="GeistMono NF UltraBlack"/>
              <a:ea typeface="GeistMono NF UltraBlack"/>
              <a:cs typeface="GeistMono NF UltraBlack"/>
            </a:endParaRPr>
          </a:p>
        </p:txBody>
      </p:sp>
      <p:pic>
        <p:nvPicPr>
          <p:cNvPr id="96439433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76274" y="2736264"/>
            <a:ext cx="10839449" cy="34575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rgbClr val="282A36"/>
            </a:gs>
            <a:gs pos="100000">
              <a:srgbClr val="44475A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597872" name=""/>
          <p:cNvSpPr txBox="1"/>
          <p:nvPr/>
        </p:nvSpPr>
        <p:spPr bwMode="auto">
          <a:xfrm rot="0" flipH="0" flipV="0">
            <a:off x="1710" y="350920"/>
            <a:ext cx="12221514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4800">
                <a:solidFill>
                  <a:srgbClr val="F1FA8C"/>
                </a:solidFill>
                <a:latin typeface="GeistMono NF UltraBlack"/>
                <a:ea typeface="GeistMono NF UltraBlack"/>
                <a:cs typeface="GeistMono NF UltraBlack"/>
              </a:rPr>
              <a:t>&gt; </a:t>
            </a:r>
            <a:r>
              <a:rPr lang="en-US" sz="4800" b="1" i="0" u="none" strike="noStrike" cap="none" spc="0">
                <a:solidFill>
                  <a:srgbClr val="F1FA8C"/>
                </a:solidFill>
                <a:latin typeface="GeistMono NF UltraBlack"/>
                <a:ea typeface="GeistMono NF UltraBlack"/>
                <a:cs typeface="GeistMono NF UltraBlack"/>
              </a:rPr>
              <a:t>Feature Deep Dive</a:t>
            </a:r>
            <a:r>
              <a:rPr sz="4800">
                <a:solidFill>
                  <a:srgbClr val="F1FA8C"/>
                </a:solidFill>
                <a:latin typeface="GeistMono NF UltraBlack"/>
                <a:ea typeface="GeistMono NF UltraBlack"/>
                <a:cs typeface="GeistMono NF UltraBlack"/>
              </a:rPr>
              <a:t> &lt;</a:t>
            </a:r>
            <a:endParaRPr sz="4800">
              <a:solidFill>
                <a:srgbClr val="F8F8F2"/>
              </a:solidFill>
              <a:latin typeface="GeistMono NF UltraBlack"/>
              <a:cs typeface="GeistMono NF UltraBlack"/>
            </a:endParaRPr>
          </a:p>
        </p:txBody>
      </p:sp>
      <p:sp>
        <p:nvSpPr>
          <p:cNvPr id="1752984950" name=""/>
          <p:cNvSpPr txBox="1"/>
          <p:nvPr/>
        </p:nvSpPr>
        <p:spPr bwMode="auto">
          <a:xfrm rot="0" flipH="0" flipV="0">
            <a:off x="235657" y="1537368"/>
            <a:ext cx="9950682" cy="2362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3600" b="0" i="0" u="none" strike="noStrike" cap="none" spc="0">
                <a:solidFill>
                  <a:srgbClr val="FFB86C"/>
                </a:solidFill>
                <a:latin typeface="GeistMono NF UltraBlack"/>
                <a:ea typeface="GeistMono NF UltraBlack"/>
                <a:cs typeface="GeistMono NF UltraBlack"/>
              </a:rPr>
              <a:t>Location:</a:t>
            </a:r>
            <a:endParaRPr lang="en-US" sz="3600" b="0" i="0" u="none" strike="noStrike" cap="none" spc="0">
              <a:solidFill>
                <a:srgbClr val="FFB86C"/>
              </a:solidFill>
              <a:latin typeface="GeistMono NF UltraBlack"/>
              <a:ea typeface="GeistMono NF UltraBlack"/>
              <a:cs typeface="GeistMono NF UltraBlack"/>
            </a:endParaRPr>
          </a:p>
          <a:p>
            <a:pPr>
              <a:defRPr/>
            </a:pPr>
            <a:endParaRPr lang="en-US" sz="3600" b="0" i="0" u="none" strike="noStrike" cap="none" spc="0">
              <a:solidFill>
                <a:srgbClr val="FFB86C"/>
              </a:solidFill>
              <a:latin typeface="GeistMono NF UltraBlack"/>
              <a:cs typeface="GeistMono NF UltraBlack"/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lang="en-US" sz="2200" b="1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Auto GPS detection</a:t>
            </a:r>
            <a:endParaRPr sz="2200" b="1" i="0" u="none" strike="noStrike" cap="none" spc="0">
              <a:solidFill>
                <a:srgbClr val="F8F8F2"/>
              </a:solidFill>
              <a:latin typeface="Maple Mono Medium"/>
              <a:cs typeface="Maple Mono Medium"/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lang="en-US" sz="2200" b="1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Manual city search</a:t>
            </a:r>
            <a:endParaRPr sz="2200" b="1" i="0" u="none" strike="noStrike" cap="none" spc="0">
              <a:solidFill>
                <a:srgbClr val="F8F8F2"/>
              </a:solidFill>
              <a:latin typeface="Maple Mono Medium"/>
              <a:cs typeface="Maple Mono Medium"/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 b="1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Remembers last location</a:t>
            </a:r>
            <a:endParaRPr/>
          </a:p>
        </p:txBody>
      </p:sp>
      <p:sp>
        <p:nvSpPr>
          <p:cNvPr id="1735691274" name=""/>
          <p:cNvSpPr txBox="1"/>
          <p:nvPr/>
        </p:nvSpPr>
        <p:spPr bwMode="auto">
          <a:xfrm rot="0" flipH="0" flipV="0">
            <a:off x="388056" y="4346741"/>
            <a:ext cx="9953562" cy="2362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3600" b="0" i="0" u="none" strike="noStrike" cap="none" spc="0">
                <a:solidFill>
                  <a:srgbClr val="FFB86C"/>
                </a:solidFill>
                <a:latin typeface="GeistMono NF UltraBlack"/>
                <a:ea typeface="GeistMono NF UltraBlack"/>
                <a:cs typeface="GeistMono NF UltraBlack"/>
              </a:rPr>
              <a:t>Current Weather:</a:t>
            </a:r>
            <a:endParaRPr lang="en-US" sz="3600" b="0" i="0" u="none" strike="noStrike" cap="none" spc="0">
              <a:solidFill>
                <a:srgbClr val="FFB86C"/>
              </a:solidFill>
              <a:latin typeface="GeistMono NF UltraBlack"/>
              <a:ea typeface="GeistMono NF UltraBlack"/>
              <a:cs typeface="GeistMono NF UltraBlack"/>
            </a:endParaRPr>
          </a:p>
          <a:p>
            <a:pPr>
              <a:defRPr/>
            </a:pPr>
            <a:endParaRPr lang="en-US" sz="3600" b="0" i="0" u="none" strike="noStrike" cap="none" spc="0">
              <a:solidFill>
                <a:srgbClr val="FFB86C"/>
              </a:solidFill>
              <a:latin typeface="GeistMono NF UltraBlack"/>
              <a:cs typeface="GeistMono NF UltraBlack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2200" b="1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Temperature + feels-like</a:t>
            </a:r>
            <a:endParaRPr sz="2200" b="1" i="0" u="none" strike="noStrike" cap="none" spc="0">
              <a:solidFill>
                <a:srgbClr val="F8F8F2"/>
              </a:solidFill>
              <a:latin typeface="Maple Mono Medium"/>
              <a:cs typeface="Maple Mono Medium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2200" b="1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Humidity, wind, pressure</a:t>
            </a:r>
            <a:endParaRPr sz="2200" b="1" i="0" u="none" strike="noStrike" cap="none" spc="0">
              <a:solidFill>
                <a:srgbClr val="F8F8F2"/>
              </a:solidFill>
              <a:latin typeface="Maple Mono Medium"/>
              <a:cs typeface="Maple Mono Medium"/>
            </a:endParaRPr>
          </a:p>
          <a:p>
            <a:pPr marL="283878" indent="-283878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 b="1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Visibility, sunrise/sunset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rgbClr val="282A36"/>
            </a:gs>
            <a:gs pos="100000">
              <a:srgbClr val="44475A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562127" name=""/>
          <p:cNvSpPr txBox="1"/>
          <p:nvPr/>
        </p:nvSpPr>
        <p:spPr bwMode="auto">
          <a:xfrm rot="0" flipH="0" flipV="0">
            <a:off x="1710" y="350920"/>
            <a:ext cx="12221514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4800">
                <a:solidFill>
                  <a:srgbClr val="F1FA8C"/>
                </a:solidFill>
                <a:latin typeface="GeistMono NF UltraBlack"/>
                <a:ea typeface="GeistMono NF UltraBlack"/>
                <a:cs typeface="GeistMono NF UltraBlack"/>
              </a:rPr>
              <a:t>&gt; </a:t>
            </a:r>
            <a:r>
              <a:rPr lang="en-US" sz="4800" b="1" i="0" u="none" strike="noStrike" cap="none" spc="0">
                <a:solidFill>
                  <a:srgbClr val="F1FA8C"/>
                </a:solidFill>
                <a:latin typeface="GeistMono NF UltraBlack"/>
                <a:ea typeface="GeistMono NF UltraBlack"/>
                <a:cs typeface="GeistMono NF UltraBlack"/>
              </a:rPr>
              <a:t>Feature Deep Dive</a:t>
            </a:r>
            <a:r>
              <a:rPr sz="4800">
                <a:solidFill>
                  <a:srgbClr val="F1FA8C"/>
                </a:solidFill>
                <a:latin typeface="GeistMono NF UltraBlack"/>
                <a:ea typeface="GeistMono NF UltraBlack"/>
                <a:cs typeface="GeistMono NF UltraBlack"/>
              </a:rPr>
              <a:t> &lt;</a:t>
            </a:r>
            <a:endParaRPr sz="4800">
              <a:solidFill>
                <a:srgbClr val="F8F8F2"/>
              </a:solidFill>
              <a:latin typeface="GeistMono NF UltraBlack"/>
              <a:cs typeface="GeistMono NF UltraBlack"/>
            </a:endParaRPr>
          </a:p>
        </p:txBody>
      </p:sp>
      <p:sp>
        <p:nvSpPr>
          <p:cNvPr id="111320304" name=""/>
          <p:cNvSpPr txBox="1"/>
          <p:nvPr/>
        </p:nvSpPr>
        <p:spPr bwMode="auto">
          <a:xfrm rot="0" flipH="0" flipV="0">
            <a:off x="235657" y="1537368"/>
            <a:ext cx="9953202" cy="2362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3600" b="0" i="0" u="none" strike="noStrike" cap="none" spc="0">
                <a:solidFill>
                  <a:srgbClr val="FFB86C"/>
                </a:solidFill>
                <a:latin typeface="GeistMono NF UltraBlack"/>
                <a:ea typeface="GeistMono NF UltraBlack"/>
                <a:cs typeface="GeistMono NF UltraBlack"/>
              </a:rPr>
              <a:t>Forecast:</a:t>
            </a:r>
            <a:endParaRPr lang="en-US" sz="3600" b="0" i="0" u="none" strike="noStrike" cap="none" spc="0">
              <a:solidFill>
                <a:srgbClr val="FFB86C"/>
              </a:solidFill>
              <a:latin typeface="GeistMono NF UltraBlack"/>
              <a:ea typeface="GeistMono NF UltraBlack"/>
              <a:cs typeface="GeistMono NF UltraBlack"/>
            </a:endParaRPr>
          </a:p>
          <a:p>
            <a:pPr>
              <a:defRPr/>
            </a:pPr>
            <a:endParaRPr lang="en-US" sz="3600" b="0" i="0" u="none" strike="noStrike" cap="none" spc="0">
              <a:solidFill>
                <a:srgbClr val="FFB86C"/>
              </a:solidFill>
              <a:latin typeface="GeistMono NF UltraBlack"/>
              <a:cs typeface="GeistMono NF UltraBlack"/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lang="en-US" sz="2200" b="1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5-day predictions</a:t>
            </a:r>
            <a:endParaRPr sz="2200" b="1" i="0" u="none" strike="noStrike" cap="none" spc="0">
              <a:solidFill>
                <a:srgbClr val="F8F8F2"/>
              </a:solidFill>
              <a:latin typeface="Maple Mono Medium"/>
              <a:cs typeface="Maple Mono Medium"/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lang="en-US" sz="2200" b="1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Noon-time snapshots</a:t>
            </a:r>
            <a:endParaRPr sz="2200" b="1" i="0" u="none" strike="noStrike" cap="none" spc="0">
              <a:solidFill>
                <a:srgbClr val="F8F8F2"/>
              </a:solidFill>
              <a:latin typeface="Maple Mono Medium"/>
              <a:cs typeface="Maple Mono Medium"/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 b="1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Weather icons + details</a:t>
            </a:r>
            <a:endParaRPr/>
          </a:p>
        </p:txBody>
      </p:sp>
      <p:sp>
        <p:nvSpPr>
          <p:cNvPr id="1005918611" name=""/>
          <p:cNvSpPr txBox="1"/>
          <p:nvPr/>
        </p:nvSpPr>
        <p:spPr bwMode="auto">
          <a:xfrm rot="0" flipH="0" flipV="0">
            <a:off x="388056" y="4346741"/>
            <a:ext cx="9955722" cy="2362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3600" b="0" i="0" u="none" strike="noStrike" cap="none" spc="0">
                <a:solidFill>
                  <a:srgbClr val="FFB86C"/>
                </a:solidFill>
                <a:latin typeface="GeistMono NF UltraBlack"/>
                <a:ea typeface="GeistMono NF UltraBlack"/>
                <a:cs typeface="GeistMono NF UltraBlack"/>
              </a:rPr>
              <a:t>Charts:</a:t>
            </a:r>
            <a:endParaRPr lang="en-US" sz="3600" b="0" i="0" u="none" strike="noStrike" cap="none" spc="0">
              <a:solidFill>
                <a:srgbClr val="FFB86C"/>
              </a:solidFill>
              <a:latin typeface="GeistMono NF UltraBlack"/>
              <a:ea typeface="GeistMono NF UltraBlack"/>
              <a:cs typeface="GeistMono NF UltraBlack"/>
            </a:endParaRPr>
          </a:p>
          <a:p>
            <a:pPr>
              <a:defRPr/>
            </a:pPr>
            <a:endParaRPr lang="en-US" sz="3600" b="0" i="0" u="none" strike="noStrike" cap="none" spc="0">
              <a:solidFill>
                <a:srgbClr val="FFB86C"/>
              </a:solidFill>
              <a:latin typeface="GeistMono NF UltraBlack"/>
              <a:cs typeface="GeistMono NF UltraBlack"/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lang="en-US" sz="2200" b="1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24-hour temperature trend</a:t>
            </a:r>
            <a:endParaRPr sz="2200" b="1" i="0" u="none" strike="noStrike" cap="none" spc="0">
              <a:solidFill>
                <a:srgbClr val="F8F8F2"/>
              </a:solidFill>
              <a:latin typeface="Maple Mono Medium"/>
              <a:cs typeface="Maple Mono Medium"/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lang="en-US" sz="2200" b="1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Humidity bar chart</a:t>
            </a:r>
            <a:endParaRPr sz="2200" b="1" i="0" u="none" strike="noStrike" cap="none" spc="0">
              <a:solidFill>
                <a:srgbClr val="F8F8F2"/>
              </a:solidFill>
              <a:latin typeface="Maple Mono Medium"/>
              <a:cs typeface="Maple Mono Medium"/>
            </a:endParaRPr>
          </a:p>
          <a:p>
            <a:pPr marL="283878" indent="-283878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 b="1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Interactive tooltips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rgbClr val="282A36"/>
            </a:gs>
            <a:gs pos="100000">
              <a:srgbClr val="44475A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0594949" name=""/>
          <p:cNvSpPr txBox="1"/>
          <p:nvPr/>
        </p:nvSpPr>
        <p:spPr bwMode="auto">
          <a:xfrm rot="0" flipH="0" flipV="0">
            <a:off x="1710" y="350920"/>
            <a:ext cx="12221874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4800">
                <a:solidFill>
                  <a:srgbClr val="F1FA8C"/>
                </a:solidFill>
                <a:latin typeface="GeistMono NF UltraBlack"/>
                <a:ea typeface="GeistMono NF UltraBlack"/>
                <a:cs typeface="GeistMono NF UltraBlack"/>
              </a:rPr>
              <a:t>&gt; </a:t>
            </a:r>
            <a:r>
              <a:rPr lang="en-US" sz="4800" b="1" i="0" u="none" strike="noStrike" cap="none" spc="0">
                <a:solidFill>
                  <a:srgbClr val="F1FA8C"/>
                </a:solidFill>
                <a:latin typeface="GeistMono NF UltraBlack"/>
                <a:ea typeface="GeistMono NF UltraBlack"/>
                <a:cs typeface="GeistMono NF UltraBlack"/>
              </a:rPr>
              <a:t>Technical Highlights</a:t>
            </a:r>
            <a:r>
              <a:rPr sz="4800">
                <a:solidFill>
                  <a:srgbClr val="F1FA8C"/>
                </a:solidFill>
                <a:latin typeface="GeistMono NF UltraBlack"/>
                <a:ea typeface="GeistMono NF UltraBlack"/>
                <a:cs typeface="GeistMono NF UltraBlack"/>
              </a:rPr>
              <a:t> &lt;</a:t>
            </a:r>
            <a:endParaRPr sz="4800">
              <a:solidFill>
                <a:srgbClr val="F8F8F2"/>
              </a:solidFill>
              <a:latin typeface="GeistMono NF UltraBlack"/>
              <a:cs typeface="GeistMono NF UltraBlack"/>
            </a:endParaRPr>
          </a:p>
        </p:txBody>
      </p:sp>
      <p:sp>
        <p:nvSpPr>
          <p:cNvPr id="1417323637" name=""/>
          <p:cNvSpPr txBox="1"/>
          <p:nvPr/>
        </p:nvSpPr>
        <p:spPr bwMode="auto">
          <a:xfrm rot="0" flipH="0" flipV="0">
            <a:off x="235657" y="1286710"/>
            <a:ext cx="9956082" cy="26978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3600" b="0" i="0" u="none" strike="noStrike" cap="none" spc="0">
                <a:solidFill>
                  <a:srgbClr val="FFB86C"/>
                </a:solidFill>
                <a:latin typeface="GeistMono NF UltraBlack"/>
                <a:ea typeface="GeistMono NF UltraBlack"/>
                <a:cs typeface="GeistMono NF UltraBlack"/>
              </a:rPr>
              <a:t>Optimizations:</a:t>
            </a:r>
            <a:endParaRPr lang="en-US" sz="3600" b="0" i="0" u="none" strike="noStrike" cap="none" spc="0">
              <a:solidFill>
                <a:srgbClr val="FFB86C"/>
              </a:solidFill>
              <a:latin typeface="GeistMono NF UltraBlack"/>
              <a:ea typeface="GeistMono NF UltraBlack"/>
              <a:cs typeface="GeistMono NF UltraBlack"/>
            </a:endParaRPr>
          </a:p>
          <a:p>
            <a:pPr>
              <a:defRPr/>
            </a:pPr>
            <a:endParaRPr lang="en-US" sz="3600" b="0" i="0" u="none" strike="noStrike" cap="none" spc="0">
              <a:solidFill>
                <a:srgbClr val="FFB86C"/>
              </a:solidFill>
              <a:latin typeface="GeistMono NF UltraBlack"/>
              <a:cs typeface="GeistMono NF UltraBlack"/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lang="en-US" sz="2200" b="0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Caching - 10-min cache → 83% fewer API calls</a:t>
            </a:r>
            <a:endParaRPr sz="2200" b="0" i="0" u="none" strike="noStrike" cap="none" spc="0">
              <a:solidFill>
                <a:srgbClr val="F8F8F2"/>
              </a:solidFill>
              <a:latin typeface="Maple Mono Medium"/>
              <a:cs typeface="Maple Mono Medium"/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lang="en-US" sz="2200" b="0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Retry Logic - 3 attempts → 99.5% uptime</a:t>
            </a:r>
            <a:endParaRPr sz="2200" b="0" i="0" u="none" strike="noStrike" cap="none" spc="0">
              <a:solidFill>
                <a:srgbClr val="F8F8F2"/>
              </a:solidFill>
              <a:latin typeface="Maple Mono Medium"/>
              <a:cs typeface="Maple Mono Medium"/>
            </a:endParaRPr>
          </a:p>
          <a:p>
            <a:pPr marL="327936" indent="-327936">
              <a:buFont typeface="Arial"/>
              <a:buChar char="•"/>
              <a:defRPr/>
            </a:pPr>
            <a:r>
              <a:rPr lang="en-US" sz="2200" b="0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Parallel Calls - Promise.all → 50% faster loads</a:t>
            </a:r>
            <a:endParaRPr sz="2200" b="0" i="0" u="none" strike="noStrike" cap="none" spc="0">
              <a:solidFill>
                <a:srgbClr val="F8F8F2"/>
              </a:solidFill>
              <a:latin typeface="Maple Mono Medium"/>
              <a:cs typeface="Maple Mono Medium"/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 b="0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LocalStorage - Saves preferences → personalized UX</a:t>
            </a:r>
            <a:endParaRPr/>
          </a:p>
        </p:txBody>
      </p:sp>
      <p:sp>
        <p:nvSpPr>
          <p:cNvPr id="879797671" name=""/>
          <p:cNvSpPr/>
          <p:nvPr/>
        </p:nvSpPr>
        <p:spPr bwMode="auto">
          <a:xfrm flipH="0" flipV="0">
            <a:off x="1184002" y="4222549"/>
            <a:ext cx="6104217" cy="164628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400" b="0" i="0" u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># Cache system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A9B7C6"/>
                </a:solidFill>
                <a:latin typeface="Arial"/>
                <a:ea typeface="Arial"/>
                <a:cs typeface="Arial"/>
              </a:rPr>
              <a:t>cache = {</a:t>
            </a:r>
            <a:r>
              <a:rPr sz="1400" b="0" i="0" u="none">
                <a:solidFill>
                  <a:srgbClr val="6A8759"/>
                </a:solidFill>
                <a:latin typeface="Arial"/>
                <a:ea typeface="Arial"/>
                <a:cs typeface="Arial"/>
              </a:rPr>
              <a:t>'data'</a:t>
            </a:r>
            <a:r>
              <a:rPr sz="1400" b="0" i="0" u="none">
                <a:solidFill>
                  <a:srgbClr val="A9B7C6"/>
                </a:solidFill>
                <a:latin typeface="Arial"/>
                <a:ea typeface="Arial"/>
                <a:cs typeface="Arial"/>
              </a:rPr>
              <a:t>: weather, </a:t>
            </a:r>
            <a:r>
              <a:rPr sz="1400" b="0" i="0" u="none">
                <a:solidFill>
                  <a:srgbClr val="6A8759"/>
                </a:solidFill>
                <a:latin typeface="Arial"/>
                <a:ea typeface="Arial"/>
                <a:cs typeface="Arial"/>
              </a:rPr>
              <a:t>'timestamp'</a:t>
            </a:r>
            <a:r>
              <a:rPr sz="1400" b="0" i="0" u="none">
                <a:solidFill>
                  <a:srgbClr val="A9B7C6"/>
                </a:solidFill>
                <a:latin typeface="Arial"/>
                <a:ea typeface="Arial"/>
                <a:cs typeface="Arial"/>
              </a:rPr>
              <a:t>: now}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A9B7C6"/>
                </a:solidFill>
                <a:latin typeface="Arial"/>
                <a:ea typeface="Arial"/>
                <a:cs typeface="Arial"/>
              </a:rPr>
              <a:t> 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808080"/>
                </a:solidFill>
                <a:latin typeface="Arial"/>
                <a:ea typeface="Arial"/>
                <a:cs typeface="Arial"/>
              </a:rPr>
              <a:t># Retry logic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CC7832"/>
                </a:solidFill>
                <a:latin typeface="Arial"/>
                <a:ea typeface="Arial"/>
                <a:cs typeface="Arial"/>
              </a:rPr>
              <a:t>for</a:t>
            </a:r>
            <a:r>
              <a:rPr sz="1400" b="0" i="0" u="none">
                <a:solidFill>
                  <a:srgbClr val="A9B7C6"/>
                </a:solidFill>
                <a:latin typeface="Arial"/>
                <a:ea typeface="Arial"/>
                <a:cs typeface="Arial"/>
              </a:rPr>
              <a:t> attempt </a:t>
            </a:r>
            <a:r>
              <a:rPr sz="1400" b="0" i="0" u="none">
                <a:solidFill>
                  <a:srgbClr val="CC7832"/>
                </a:solidFill>
                <a:latin typeface="Arial"/>
                <a:ea typeface="Arial"/>
                <a:cs typeface="Arial"/>
              </a:rPr>
              <a:t>in</a:t>
            </a:r>
            <a:r>
              <a:rPr sz="1400" b="0" i="0" u="none">
                <a:solidFill>
                  <a:srgbClr val="A9B7C6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i="0" u="none">
                <a:solidFill>
                  <a:srgbClr val="A9B7C6"/>
                </a:solidFill>
                <a:latin typeface="Arial"/>
                <a:ea typeface="Arial"/>
                <a:cs typeface="Arial"/>
              </a:rPr>
              <a:t>range</a:t>
            </a:r>
            <a:r>
              <a:rPr sz="1400" b="0" i="0" u="none">
                <a:solidFill>
                  <a:srgbClr val="A9B7C6"/>
                </a:solidFill>
                <a:latin typeface="Arial"/>
                <a:ea typeface="Arial"/>
                <a:cs typeface="Arial"/>
              </a:rPr>
              <a:t>(</a:t>
            </a:r>
            <a:r>
              <a:rPr sz="1400" b="0" i="0" u="none">
                <a:solidFill>
                  <a:srgbClr val="6897BB"/>
                </a:solidFill>
                <a:latin typeface="Arial"/>
                <a:ea typeface="Arial"/>
                <a:cs typeface="Arial"/>
              </a:rPr>
              <a:t>3</a:t>
            </a:r>
            <a:r>
              <a:rPr sz="1400" b="0" i="0" u="none">
                <a:solidFill>
                  <a:srgbClr val="A9B7C6"/>
                </a:solidFill>
                <a:latin typeface="Arial"/>
                <a:ea typeface="Arial"/>
                <a:cs typeface="Arial"/>
              </a:rPr>
              <a:t>):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A9B7C6"/>
                </a:solidFill>
                <a:latin typeface="Arial"/>
                <a:ea typeface="Arial"/>
                <a:cs typeface="Arial"/>
              </a:rPr>
              <a:t>    </a:t>
            </a:r>
            <a:r>
              <a:rPr sz="1400" b="0" i="0" u="none">
                <a:solidFill>
                  <a:srgbClr val="CC7832"/>
                </a:solidFill>
                <a:latin typeface="Arial"/>
                <a:ea typeface="Arial"/>
                <a:cs typeface="Arial"/>
              </a:rPr>
              <a:t>try</a:t>
            </a:r>
            <a:r>
              <a:rPr sz="1400" b="0" i="0" u="none">
                <a:solidFill>
                  <a:srgbClr val="A9B7C6"/>
                </a:solidFill>
                <a:latin typeface="Arial"/>
                <a:ea typeface="Arial"/>
                <a:cs typeface="Arial"/>
              </a:rPr>
              <a:t>: </a:t>
            </a:r>
            <a:r>
              <a:rPr sz="1400" b="0" i="0" u="none">
                <a:solidFill>
                  <a:srgbClr val="CC7832"/>
                </a:solidFill>
                <a:latin typeface="Arial"/>
                <a:ea typeface="Arial"/>
                <a:cs typeface="Arial"/>
              </a:rPr>
              <a:t>return</a:t>
            </a:r>
            <a:r>
              <a:rPr sz="1400" b="0" i="0" u="none">
                <a:solidFill>
                  <a:srgbClr val="A9B7C6"/>
                </a:solidFill>
                <a:latin typeface="Arial"/>
                <a:ea typeface="Arial"/>
                <a:cs typeface="Arial"/>
              </a:rPr>
              <a:t> fetch_data()</a:t>
            </a:r>
            <a:endParaRPr/>
          </a:p>
          <a:p>
            <a:pPr>
              <a:defRPr/>
            </a:pPr>
            <a:r>
              <a:rPr sz="1400" b="0" i="0" u="none">
                <a:solidFill>
                  <a:srgbClr val="A9B7C6"/>
                </a:solidFill>
                <a:latin typeface="Arial"/>
                <a:ea typeface="Arial"/>
                <a:cs typeface="Arial"/>
              </a:rPr>
              <a:t>    </a:t>
            </a:r>
            <a:r>
              <a:rPr sz="1400" b="0" i="0" u="none">
                <a:solidFill>
                  <a:srgbClr val="CC7832"/>
                </a:solidFill>
                <a:latin typeface="Arial"/>
                <a:ea typeface="Arial"/>
                <a:cs typeface="Arial"/>
              </a:rPr>
              <a:t>except</a:t>
            </a:r>
            <a:r>
              <a:rPr sz="1400" b="0" i="0" u="none">
                <a:solidFill>
                  <a:srgbClr val="A9B7C6"/>
                </a:solidFill>
                <a:latin typeface="Arial"/>
                <a:ea typeface="Arial"/>
                <a:cs typeface="Arial"/>
              </a:rPr>
              <a:t>: </a:t>
            </a:r>
            <a:r>
              <a:rPr sz="1400" b="0" i="0" u="none">
                <a:solidFill>
                  <a:srgbClr val="CC7832"/>
                </a:solidFill>
                <a:latin typeface="Arial"/>
                <a:ea typeface="Arial"/>
                <a:cs typeface="Arial"/>
              </a:rPr>
              <a:t>continue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rgbClr val="282A36"/>
            </a:gs>
            <a:gs pos="100000">
              <a:srgbClr val="44475A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9012101" name=""/>
          <p:cNvSpPr txBox="1"/>
          <p:nvPr/>
        </p:nvSpPr>
        <p:spPr bwMode="auto">
          <a:xfrm rot="0" flipH="0" flipV="0">
            <a:off x="1710" y="350920"/>
            <a:ext cx="12222594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4800">
                <a:solidFill>
                  <a:srgbClr val="F1FA8C"/>
                </a:solidFill>
                <a:latin typeface="GeistMono NF UltraBlack"/>
                <a:ea typeface="GeistMono NF UltraBlack"/>
                <a:cs typeface="GeistMono NF UltraBlack"/>
              </a:rPr>
              <a:t>&gt; </a:t>
            </a:r>
            <a:r>
              <a:rPr lang="en-US" sz="4800" b="1" i="0" u="none" strike="noStrike" cap="none" spc="0">
                <a:solidFill>
                  <a:srgbClr val="F1FA8C"/>
                </a:solidFill>
                <a:latin typeface="GeistMono NF UltraBlack"/>
                <a:ea typeface="GeistMono NF UltraBlack"/>
                <a:cs typeface="GeistMono NF UltraBlack"/>
              </a:rPr>
              <a:t>Conclusion</a:t>
            </a:r>
            <a:r>
              <a:rPr sz="4800">
                <a:solidFill>
                  <a:srgbClr val="F1FA8C"/>
                </a:solidFill>
                <a:latin typeface="GeistMono NF UltraBlack"/>
                <a:ea typeface="GeistMono NF UltraBlack"/>
                <a:cs typeface="GeistMono NF UltraBlack"/>
              </a:rPr>
              <a:t> &lt;</a:t>
            </a:r>
            <a:endParaRPr sz="4800">
              <a:solidFill>
                <a:srgbClr val="F8F8F2"/>
              </a:solidFill>
              <a:latin typeface="GeistMono NF UltraBlack"/>
              <a:cs typeface="GeistMono NF UltraBlack"/>
            </a:endParaRPr>
          </a:p>
        </p:txBody>
      </p:sp>
      <p:sp>
        <p:nvSpPr>
          <p:cNvPr id="1401121274" name=""/>
          <p:cNvSpPr txBox="1"/>
          <p:nvPr/>
        </p:nvSpPr>
        <p:spPr bwMode="auto">
          <a:xfrm rot="0" flipH="0" flipV="0">
            <a:off x="235657" y="1286710"/>
            <a:ext cx="9961842" cy="3033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3600" b="0" i="0" u="none" strike="noStrike" cap="none" spc="0">
                <a:solidFill>
                  <a:srgbClr val="FFB86C"/>
                </a:solidFill>
                <a:latin typeface="GeistMono NF UltraBlack"/>
                <a:ea typeface="GeistMono NF UltraBlack"/>
                <a:cs typeface="GeistMono NF UltraBlack"/>
              </a:rPr>
              <a:t>Achievements:</a:t>
            </a:r>
            <a:endParaRPr lang="en-US" sz="3600" b="0" i="0" u="none" strike="noStrike" cap="none" spc="0">
              <a:solidFill>
                <a:srgbClr val="FFB86C"/>
              </a:solidFill>
              <a:latin typeface="GeistMono NF UltraBlack"/>
              <a:ea typeface="GeistMono NF UltraBlack"/>
              <a:cs typeface="GeistMono NF UltraBlack"/>
            </a:endParaRPr>
          </a:p>
          <a:p>
            <a:pPr>
              <a:defRPr/>
            </a:pPr>
            <a:endParaRPr lang="en-US" sz="3600" b="0" i="0" u="none" strike="noStrike" cap="none" spc="0">
              <a:solidFill>
                <a:srgbClr val="FFB86C"/>
              </a:solidFill>
              <a:latin typeface="GeistMono NF UltraBlack"/>
              <a:cs typeface="GeistMono NF UltraBlack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2200" b="0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Full-stack web app</a:t>
            </a:r>
            <a:endParaRPr sz="2200" b="0" i="0" u="none" strike="noStrike" cap="none" spc="0">
              <a:solidFill>
                <a:srgbClr val="F8F8F2"/>
              </a:solidFill>
              <a:latin typeface="Maple Mono Medium"/>
              <a:cs typeface="Maple Mono Medium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2200" b="0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Real-time API integration</a:t>
            </a:r>
            <a:endParaRPr sz="2200" b="0" i="0" u="none" strike="noStrike" cap="none" spc="0">
              <a:solidFill>
                <a:srgbClr val="F8F8F2"/>
              </a:solidFill>
              <a:latin typeface="Maple Mono Medium"/>
              <a:cs typeface="Maple Mono Medium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2200" b="0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Modern UI/UX</a:t>
            </a:r>
            <a:endParaRPr sz="2200" b="0" i="0" u="none" strike="noStrike" cap="none" spc="0">
              <a:solidFill>
                <a:srgbClr val="F8F8F2"/>
              </a:solidFill>
              <a:latin typeface="Maple Mono Medium"/>
              <a:cs typeface="Maple Mono Medium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2200" b="0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Responsive design</a:t>
            </a:r>
            <a:endParaRPr sz="2200" b="0" i="0" u="none" strike="noStrike" cap="none" spc="0">
              <a:solidFill>
                <a:srgbClr val="F8F8F2"/>
              </a:solidFill>
              <a:latin typeface="Maple Mono Medium"/>
              <a:cs typeface="Maple Mono Medium"/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 b="0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Open-source (GPL-3.0)</a:t>
            </a:r>
            <a:endParaRPr/>
          </a:p>
        </p:txBody>
      </p:sp>
      <p:sp>
        <p:nvSpPr>
          <p:cNvPr id="355618006" name=""/>
          <p:cNvSpPr txBox="1"/>
          <p:nvPr/>
        </p:nvSpPr>
        <p:spPr bwMode="auto">
          <a:xfrm rot="0" flipH="0" flipV="0">
            <a:off x="388056" y="4747794"/>
            <a:ext cx="9964362" cy="2027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3600" b="0" i="0" u="none" strike="noStrike" cap="none" spc="0">
                <a:solidFill>
                  <a:srgbClr val="FFB86C"/>
                </a:solidFill>
                <a:latin typeface="GeistMono NF UltraBlack"/>
                <a:ea typeface="GeistMono NF UltraBlack"/>
                <a:cs typeface="GeistMono NF UltraBlack"/>
              </a:rPr>
              <a:t>Links:</a:t>
            </a:r>
            <a:endParaRPr lang="en-US" sz="3600" b="0" i="0" u="none" strike="noStrike" cap="none" spc="0">
              <a:solidFill>
                <a:srgbClr val="FFB86C"/>
              </a:solidFill>
              <a:latin typeface="GeistMono NF UltraBlack"/>
              <a:ea typeface="GeistMono NF UltraBlack"/>
              <a:cs typeface="GeistMono NF UltraBlack"/>
            </a:endParaRPr>
          </a:p>
          <a:p>
            <a:pPr>
              <a:defRPr/>
            </a:pPr>
            <a:endParaRPr lang="en-US" sz="3600" b="0" i="0" u="none" strike="noStrike" cap="none" spc="0">
              <a:solidFill>
                <a:srgbClr val="FFB86C"/>
              </a:solidFill>
              <a:latin typeface="GeistMono NF UltraBlack"/>
              <a:cs typeface="GeistMono NF UltraBlack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2200" b="0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GitHub: github.com/roxxadiiii/WeatherWise</a:t>
            </a:r>
            <a:endParaRPr sz="2200" b="0" i="0" u="none" strike="noStrike" cap="none" spc="0">
              <a:solidFill>
                <a:srgbClr val="F8F8F2"/>
              </a:solidFill>
              <a:latin typeface="Maple Mono Medium"/>
              <a:cs typeface="Maple Mono Medium"/>
            </a:endParaRPr>
          </a:p>
          <a:p>
            <a:pPr marL="283878" indent="-283878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 b="0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License: GPL-3.0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rgbClr val="282A36"/>
            </a:gs>
            <a:gs pos="100000">
              <a:srgbClr val="44475A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3698638" name=""/>
          <p:cNvSpPr txBox="1"/>
          <p:nvPr/>
        </p:nvSpPr>
        <p:spPr bwMode="auto">
          <a:xfrm rot="0" flipH="0" flipV="0">
            <a:off x="1710" y="350920"/>
            <a:ext cx="12227994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4800">
                <a:solidFill>
                  <a:srgbClr val="F1FA8C"/>
                </a:solidFill>
                <a:latin typeface="GeistMono NF UltraBlack"/>
                <a:ea typeface="GeistMono NF UltraBlack"/>
                <a:cs typeface="GeistMono NF UltraBlack"/>
              </a:rPr>
              <a:t>&gt; </a:t>
            </a:r>
            <a:r>
              <a:rPr lang="en-US" sz="4800" b="1" i="0" u="none" strike="noStrike" cap="none" spc="0">
                <a:solidFill>
                  <a:srgbClr val="F1FA8C"/>
                </a:solidFill>
                <a:latin typeface="GeistMono NF UltraBlack"/>
                <a:ea typeface="GeistMono NF UltraBlack"/>
                <a:cs typeface="GeistMono NF UltraBlack"/>
              </a:rPr>
              <a:t>Resources</a:t>
            </a:r>
            <a:r>
              <a:rPr sz="4800">
                <a:solidFill>
                  <a:srgbClr val="F1FA8C"/>
                </a:solidFill>
                <a:latin typeface="GeistMono NF UltraBlack"/>
                <a:ea typeface="GeistMono NF UltraBlack"/>
                <a:cs typeface="GeistMono NF UltraBlack"/>
              </a:rPr>
              <a:t> &lt;</a:t>
            </a:r>
            <a:endParaRPr sz="4800">
              <a:solidFill>
                <a:srgbClr val="F8F8F2"/>
              </a:solidFill>
              <a:latin typeface="GeistMono NF UltraBlack"/>
              <a:cs typeface="GeistMono NF UltraBlack"/>
            </a:endParaRPr>
          </a:p>
        </p:txBody>
      </p:sp>
      <p:sp>
        <p:nvSpPr>
          <p:cNvPr id="1424357482" name=""/>
          <p:cNvSpPr txBox="1"/>
          <p:nvPr/>
        </p:nvSpPr>
        <p:spPr bwMode="auto">
          <a:xfrm rot="0" flipH="0" flipV="0">
            <a:off x="235657" y="1286710"/>
            <a:ext cx="6116772" cy="333944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lang="en-US" sz="3600" b="0" i="0" u="none" strike="noStrike" cap="none" spc="0">
              <a:solidFill>
                <a:srgbClr val="FFB86C"/>
              </a:solidFill>
              <a:latin typeface="GeistMono NF UltraBlack"/>
              <a:cs typeface="GeistMono NF UltraBlack"/>
            </a:endParaRPr>
          </a:p>
          <a:p>
            <a:pPr marL="283879" indent="-283879">
              <a:lnSpc>
                <a:spcPct val="114999"/>
              </a:lnSpc>
              <a:buFont typeface="Arial"/>
              <a:buChar char="•"/>
              <a:defRPr/>
            </a:pPr>
            <a:r>
              <a:rPr sz="220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GeistMono Nerd font</a:t>
            </a:r>
            <a:endParaRPr sz="2200">
              <a:solidFill>
                <a:srgbClr val="F8F8F2"/>
              </a:solidFill>
              <a:latin typeface="Orbitron"/>
              <a:cs typeface="Orbitron"/>
            </a:endParaRPr>
          </a:p>
          <a:p>
            <a:pPr marL="283879" indent="-283879">
              <a:lnSpc>
                <a:spcPct val="114999"/>
              </a:lnSpc>
              <a:buFont typeface="Arial"/>
              <a:buChar char="•"/>
              <a:defRPr/>
            </a:pPr>
            <a:r>
              <a:rPr sz="220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MapleMono Nerd font</a:t>
            </a:r>
            <a:endParaRPr sz="2200">
              <a:solidFill>
                <a:srgbClr val="F8F8F2"/>
              </a:solidFill>
              <a:latin typeface="Maple Mono Medium"/>
              <a:ea typeface="Maple Mono Medium"/>
              <a:cs typeface="Maple Mono Medium"/>
            </a:endParaRPr>
          </a:p>
          <a:p>
            <a:pPr marL="283879" indent="-283879">
              <a:lnSpc>
                <a:spcPct val="114999"/>
              </a:lnSpc>
              <a:buFont typeface="Arial"/>
              <a:buChar char="•"/>
              <a:defRPr/>
            </a:pPr>
            <a:r>
              <a:rPr sz="220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Mononoki Nerd font</a:t>
            </a:r>
            <a:endParaRPr sz="2200" b="0" i="0" u="none" strike="noStrike" cap="none" spc="0">
              <a:solidFill>
                <a:srgbClr val="F8F8F2"/>
              </a:solidFill>
              <a:latin typeface="Maple Mono Medium"/>
              <a:cs typeface="Maple Mono Medium"/>
            </a:endParaRPr>
          </a:p>
          <a:p>
            <a:pPr marL="283879" indent="-283879">
              <a:lnSpc>
                <a:spcPct val="114999"/>
              </a:lnSpc>
              <a:buFont typeface="Arial"/>
              <a:buChar char="•"/>
              <a:defRPr/>
            </a:pPr>
            <a:r>
              <a:rPr lang="en-US" sz="2200" b="0" i="0" u="none" strike="noStrike" cap="none" spc="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Dracula colorscheme</a:t>
            </a:r>
            <a:endParaRPr sz="2200" b="0" i="0" u="none" strike="noStrike" cap="none" spc="0">
              <a:solidFill>
                <a:srgbClr val="F8F8F2"/>
              </a:solidFill>
              <a:latin typeface="Maple Mono Medium"/>
              <a:cs typeface="Maple Mono Medium"/>
            </a:endParaRPr>
          </a:p>
          <a:p>
            <a:pPr marL="283879" indent="-283879">
              <a:lnSpc>
                <a:spcPct val="114999"/>
              </a:lnSpc>
              <a:buFont typeface="Arial"/>
              <a:buChar char="•"/>
              <a:defRPr/>
            </a:pPr>
            <a:r>
              <a:rPr sz="220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LLM for debugging and formatting</a:t>
            </a:r>
            <a:endParaRPr sz="2200" b="0" i="0" u="none" strike="noStrike" cap="none" spc="0">
              <a:solidFill>
                <a:srgbClr val="F8F8F2"/>
              </a:solidFill>
              <a:latin typeface="Maple Mono Medium"/>
              <a:cs typeface="Maple Mono Medium"/>
            </a:endParaRPr>
          </a:p>
          <a:p>
            <a:pPr marL="283879" indent="-283879">
              <a:lnSpc>
                <a:spcPct val="114999"/>
              </a:lnSpc>
              <a:buFont typeface="Arial"/>
              <a:buChar char="•"/>
              <a:defRPr/>
            </a:pPr>
            <a:r>
              <a:rPr sz="220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Github for managing code</a:t>
            </a:r>
            <a:endParaRPr sz="2200">
              <a:solidFill>
                <a:srgbClr val="F8F8F2"/>
              </a:solidFill>
              <a:latin typeface="Maple Mono Medium"/>
              <a:ea typeface="Maple Mono Medium"/>
              <a:cs typeface="Maple Mono Medium"/>
            </a:endParaRPr>
          </a:p>
          <a:p>
            <a:pPr marL="283879" indent="-283879">
              <a:lnSpc>
                <a:spcPct val="114999"/>
              </a:lnSpc>
              <a:buFont typeface="Arial"/>
              <a:buChar char="•"/>
              <a:defRPr/>
            </a:pPr>
            <a:r>
              <a:rPr sz="2200">
                <a:solidFill>
                  <a:srgbClr val="F8F8F2"/>
                </a:solidFill>
                <a:latin typeface="Maple Mono Medium"/>
                <a:ea typeface="Maple Mono Medium"/>
                <a:cs typeface="Maple Mono Medium"/>
              </a:rPr>
              <a:t>OnlyOffice for making ppt</a:t>
            </a:r>
            <a:endParaRPr/>
          </a:p>
        </p:txBody>
      </p:sp>
      <p:sp>
        <p:nvSpPr>
          <p:cNvPr id="468375803" name=""/>
          <p:cNvSpPr/>
          <p:nvPr/>
        </p:nvSpPr>
        <p:spPr bwMode="auto">
          <a:xfrm rot="0" flipH="0" flipV="0">
            <a:off x="7554868" y="1286710"/>
            <a:ext cx="4144210" cy="48293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66652965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868170" y="1487236"/>
            <a:ext cx="3517605" cy="3517605"/>
          </a:xfrm>
          <a:prstGeom prst="rect">
            <a:avLst/>
          </a:prstGeom>
        </p:spPr>
      </p:pic>
      <p:sp>
        <p:nvSpPr>
          <p:cNvPr id="845029407" name=""/>
          <p:cNvSpPr txBox="1"/>
          <p:nvPr/>
        </p:nvSpPr>
        <p:spPr bwMode="auto">
          <a:xfrm rot="0" flipH="0" flipV="0">
            <a:off x="7805526" y="5213684"/>
            <a:ext cx="3684595" cy="6099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400" b="1">
                <a:solidFill>
                  <a:srgbClr val="282A36"/>
                </a:solidFill>
                <a:latin typeface="Maple Mono Medium"/>
                <a:ea typeface="Maple Mono Medium"/>
                <a:cs typeface="Maple Mono Medium"/>
              </a:rPr>
              <a:t>Scan for code</a:t>
            </a:r>
            <a:endParaRPr sz="3400" b="1">
              <a:solidFill>
                <a:srgbClr val="282A36"/>
              </a:solidFill>
              <a:latin typeface="Maple Mono Medium"/>
              <a:cs typeface="Maple Mono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ONLYOFFICE/9.2.0.100</Application>
  <PresentationFormat>On-screen Show (4:3)</PresentationFormat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2025-12-16T10:20:45Z</dcterms:modified>
</cp:coreProperties>
</file>